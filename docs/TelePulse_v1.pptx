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71" r:id="rId6"/>
    <p:sldId id="272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12192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napToObjects="1">
      <p:cViewPr>
        <p:scale>
          <a:sx n="66" d="100"/>
          <a:sy n="66" d="100"/>
        </p:scale>
        <p:origin x="1330" y="413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86370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74908776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7/23/2026</a:t>
            </a:fld>
            <a:endParaRPr lang="en-US"/>
          </a:p>
        </p:txBody>
      </p:sp>
      <p:sp>
        <p:nvSpPr>
          <p:cNvPr id="1838050675" name="Slide Image Placeholder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344402808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84099449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01703653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1388298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n-US"/>
          </a:p>
        </p:txBody>
      </p:sp>
      <p:sp>
        <p:nvSpPr>
          <p:cNvPr id="20583349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207538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351692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n-US"/>
          </a:p>
        </p:txBody>
      </p:sp>
      <p:sp>
        <p:nvSpPr>
          <p:cNvPr id="2719922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584701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7006532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n-US"/>
          </a:p>
        </p:txBody>
      </p:sp>
      <p:sp>
        <p:nvSpPr>
          <p:cNvPr id="9216384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499910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3215084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n-US"/>
          </a:p>
        </p:txBody>
      </p:sp>
      <p:sp>
        <p:nvSpPr>
          <p:cNvPr id="19497234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859192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481120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n-US"/>
          </a:p>
        </p:txBody>
      </p:sp>
      <p:sp>
        <p:nvSpPr>
          <p:cNvPr id="14730984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858898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0498739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n-US"/>
          </a:p>
        </p:txBody>
      </p:sp>
      <p:sp>
        <p:nvSpPr>
          <p:cNvPr id="16625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662040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2073868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n-US"/>
          </a:p>
        </p:txBody>
      </p:sp>
      <p:sp>
        <p:nvSpPr>
          <p:cNvPr id="17207372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106786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9437882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n-US"/>
          </a:p>
        </p:txBody>
      </p:sp>
      <p:sp>
        <p:nvSpPr>
          <p:cNvPr id="12345923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184571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2224893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n-US"/>
          </a:p>
        </p:txBody>
      </p:sp>
      <p:sp>
        <p:nvSpPr>
          <p:cNvPr id="3277469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017613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8639001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n-US"/>
          </a:p>
        </p:txBody>
      </p:sp>
      <p:sp>
        <p:nvSpPr>
          <p:cNvPr id="9340631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903357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8772612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n-US"/>
          </a:p>
        </p:txBody>
      </p:sp>
      <p:sp>
        <p:nvSpPr>
          <p:cNvPr id="3208000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608707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4427141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n-US"/>
          </a:p>
        </p:txBody>
      </p:sp>
      <p:sp>
        <p:nvSpPr>
          <p:cNvPr id="16425229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233112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5476674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n-US"/>
          </a:p>
        </p:txBody>
      </p:sp>
      <p:sp>
        <p:nvSpPr>
          <p:cNvPr id="1961840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0091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3870171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n-US"/>
          </a:p>
        </p:txBody>
      </p:sp>
      <p:sp>
        <p:nvSpPr>
          <p:cNvPr id="12166371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585040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3415374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n-US"/>
          </a:p>
        </p:txBody>
      </p:sp>
      <p:sp>
        <p:nvSpPr>
          <p:cNvPr id="15591603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573262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9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3.png"/><Relationship Id="rId10" Type="http://schemas.openxmlformats.org/officeDocument/2006/relationships/image" Target="../media/image3.png"/><Relationship Id="rId4" Type="http://schemas.openxmlformats.org/officeDocument/2006/relationships/image" Target="../media/image5.png"/><Relationship Id="rId9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Doha-Ahmed-E/TelePulse.git" TargetMode="External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3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">
    <p:bg>
      <p:bgPr>
        <a:solidFill>
          <a:srgbClr val="0B2E4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51350" name="Shape 0"/>
          <p:cNvSpPr/>
          <p:nvPr/>
        </p:nvSpPr>
        <p:spPr bwMode="auto">
          <a:xfrm>
            <a:off x="10820095" y="548640"/>
            <a:ext cx="914400" cy="914400"/>
          </a:xfrm>
          <a:prstGeom prst="ellipse">
            <a:avLst/>
          </a:prstGeom>
          <a:ln w="15875">
            <a:solidFill>
              <a:srgbClr val="13C4C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0404353" name="Shape 1"/>
          <p:cNvSpPr/>
          <p:nvPr/>
        </p:nvSpPr>
        <p:spPr bwMode="auto">
          <a:xfrm>
            <a:off x="10362895" y="91440"/>
            <a:ext cx="1828800" cy="1828800"/>
          </a:xfrm>
          <a:prstGeom prst="ellipse">
            <a:avLst/>
          </a:prstGeom>
          <a:ln w="15875">
            <a:solidFill>
              <a:srgbClr val="13C4CB">
                <a:alpha val="53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4113213" name="Shape 2"/>
          <p:cNvSpPr/>
          <p:nvPr/>
        </p:nvSpPr>
        <p:spPr bwMode="auto">
          <a:xfrm>
            <a:off x="9859975" y="-411480"/>
            <a:ext cx="2834640" cy="2834640"/>
          </a:xfrm>
          <a:prstGeom prst="ellipse">
            <a:avLst/>
          </a:prstGeom>
          <a:ln w="15875">
            <a:solidFill>
              <a:srgbClr val="13C4CB">
                <a:alpha val="41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9999714" name="Shape 3"/>
          <p:cNvSpPr/>
          <p:nvPr/>
        </p:nvSpPr>
        <p:spPr bwMode="auto">
          <a:xfrm>
            <a:off x="9357055" y="-914400"/>
            <a:ext cx="3840480" cy="3840480"/>
          </a:xfrm>
          <a:prstGeom prst="ellipse">
            <a:avLst/>
          </a:prstGeom>
          <a:ln w="15875">
            <a:solidFill>
              <a:srgbClr val="13C4CB">
                <a:alpha val="29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1989989" name="Shape 4"/>
          <p:cNvSpPr/>
          <p:nvPr/>
        </p:nvSpPr>
        <p:spPr bwMode="auto">
          <a:xfrm>
            <a:off x="8854135" y="-1417320"/>
            <a:ext cx="4846320" cy="4846320"/>
          </a:xfrm>
          <a:prstGeom prst="ellipse">
            <a:avLst/>
          </a:prstGeom>
          <a:ln w="15875">
            <a:solidFill>
              <a:srgbClr val="13C4CB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8355502" name="Shape 5"/>
          <p:cNvSpPr/>
          <p:nvPr/>
        </p:nvSpPr>
        <p:spPr bwMode="auto">
          <a:xfrm>
            <a:off x="365760" y="5852160"/>
            <a:ext cx="731520" cy="731520"/>
          </a:xfrm>
          <a:prstGeom prst="ellipse">
            <a:avLst/>
          </a:prstGeom>
          <a:ln w="15875">
            <a:solidFill>
              <a:srgbClr val="1C729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0778234" name="Shape 6"/>
          <p:cNvSpPr/>
          <p:nvPr/>
        </p:nvSpPr>
        <p:spPr bwMode="auto">
          <a:xfrm>
            <a:off x="-45720" y="5440680"/>
            <a:ext cx="1554480" cy="1554480"/>
          </a:xfrm>
          <a:prstGeom prst="ellipse">
            <a:avLst/>
          </a:prstGeom>
          <a:ln w="15875">
            <a:solidFill>
              <a:srgbClr val="1C7293">
                <a:alpha val="53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165016" name="Shape 7"/>
          <p:cNvSpPr/>
          <p:nvPr/>
        </p:nvSpPr>
        <p:spPr bwMode="auto">
          <a:xfrm>
            <a:off x="-457200" y="5029200"/>
            <a:ext cx="2377440" cy="2377440"/>
          </a:xfrm>
          <a:prstGeom prst="ellipse">
            <a:avLst/>
          </a:prstGeom>
          <a:ln w="15875">
            <a:solidFill>
              <a:srgbClr val="1C7293">
                <a:alpha val="41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461423" name="Text 8"/>
          <p:cNvSpPr/>
          <p:nvPr/>
        </p:nvSpPr>
        <p:spPr bwMode="auto"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 spc="200">
                <a:solidFill>
                  <a:srgbClr val="13C4CB"/>
                </a:solidFill>
                <a:latin typeface="Calibri"/>
                <a:ea typeface="Calibri"/>
                <a:cs typeface="Calibri"/>
              </a:rPr>
              <a:t>NTI BIG DATA TRAINING PROGRAM</a:t>
            </a:r>
            <a:endParaRPr lang="en-US" sz="1400"/>
          </a:p>
        </p:txBody>
      </p:sp>
      <p:sp>
        <p:nvSpPr>
          <p:cNvPr id="94835656" name="Text 9"/>
          <p:cNvSpPr/>
          <p:nvPr/>
        </p:nvSpPr>
        <p:spPr bwMode="auto">
          <a:xfrm>
            <a:off x="777240" y="178308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6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TelePulse</a:t>
            </a:r>
            <a:endParaRPr lang="en-US" sz="6000"/>
          </a:p>
        </p:txBody>
      </p:sp>
      <p:sp>
        <p:nvSpPr>
          <p:cNvPr id="1619498625" name="Text 10"/>
          <p:cNvSpPr/>
          <p:nvPr/>
        </p:nvSpPr>
        <p:spPr bwMode="auto">
          <a:xfrm>
            <a:off x="822960" y="288036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>
                <a:solidFill>
                  <a:srgbClr val="EAF3F8"/>
                </a:solidFill>
                <a:latin typeface="Calibri"/>
                <a:ea typeface="Calibri"/>
                <a:cs typeface="Calibri"/>
              </a:rPr>
              <a:t>Big Data Analytics Platform for Urban Telecommunications</a:t>
            </a:r>
            <a:endParaRPr lang="en-US" sz="2000"/>
          </a:p>
        </p:txBody>
      </p:sp>
      <p:sp>
        <p:nvSpPr>
          <p:cNvPr id="689675039" name="Shape 11"/>
          <p:cNvSpPr/>
          <p:nvPr/>
        </p:nvSpPr>
        <p:spPr bwMode="auto">
          <a:xfrm>
            <a:off x="822960" y="3657600"/>
            <a:ext cx="38404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7895295" name="Text 12"/>
          <p:cNvSpPr/>
          <p:nvPr/>
        </p:nvSpPr>
        <p:spPr bwMode="auto">
          <a:xfrm>
            <a:off x="822960" y="3977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13C4CB"/>
                </a:solidFill>
                <a:latin typeface="Calibri"/>
                <a:ea typeface="Calibri"/>
                <a:cs typeface="Calibri"/>
              </a:rPr>
              <a:t>TEAM MEMBERS</a:t>
            </a:r>
            <a:endParaRPr lang="en-US" sz="1200"/>
          </a:p>
        </p:txBody>
      </p:sp>
      <p:sp>
        <p:nvSpPr>
          <p:cNvPr id="718376027" name="Shape 13"/>
          <p:cNvSpPr/>
          <p:nvPr/>
        </p:nvSpPr>
        <p:spPr bwMode="auto">
          <a:xfrm>
            <a:off x="822960" y="4416552"/>
            <a:ext cx="128016" cy="128016"/>
          </a:xfrm>
          <a:prstGeom prst="ellipse">
            <a:avLst/>
          </a:prstGeom>
          <a:solidFill>
            <a:srgbClr val="13C4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5777814" name="Text 14"/>
          <p:cNvSpPr/>
          <p:nvPr/>
        </p:nvSpPr>
        <p:spPr bwMode="auto">
          <a:xfrm>
            <a:off x="1078992" y="43891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Doha Ahmed</a:t>
            </a:r>
            <a:endParaRPr lang="en-US" sz="1500"/>
          </a:p>
        </p:txBody>
      </p:sp>
      <p:sp>
        <p:nvSpPr>
          <p:cNvPr id="1932033188" name="Shape 15"/>
          <p:cNvSpPr/>
          <p:nvPr/>
        </p:nvSpPr>
        <p:spPr bwMode="auto">
          <a:xfrm>
            <a:off x="3749040" y="4416552"/>
            <a:ext cx="128016" cy="128016"/>
          </a:xfrm>
          <a:prstGeom prst="ellipse">
            <a:avLst/>
          </a:prstGeom>
          <a:solidFill>
            <a:srgbClr val="13C4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09265143" name="Text 16"/>
          <p:cNvSpPr/>
          <p:nvPr/>
        </p:nvSpPr>
        <p:spPr bwMode="auto">
          <a:xfrm>
            <a:off x="4005072" y="43891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Reem Ahmed</a:t>
            </a:r>
            <a:endParaRPr lang="en-US" sz="1500"/>
          </a:p>
        </p:txBody>
      </p:sp>
      <p:sp>
        <p:nvSpPr>
          <p:cNvPr id="677153672" name="Shape 17"/>
          <p:cNvSpPr/>
          <p:nvPr/>
        </p:nvSpPr>
        <p:spPr bwMode="auto">
          <a:xfrm>
            <a:off x="822960" y="4800600"/>
            <a:ext cx="128016" cy="128016"/>
          </a:xfrm>
          <a:prstGeom prst="ellipse">
            <a:avLst/>
          </a:prstGeom>
          <a:solidFill>
            <a:srgbClr val="13C4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06819378" name="Text 18"/>
          <p:cNvSpPr/>
          <p:nvPr/>
        </p:nvSpPr>
        <p:spPr bwMode="auto">
          <a:xfrm>
            <a:off x="1078992" y="47731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Malak Amir</a:t>
            </a:r>
            <a:endParaRPr lang="en-US" sz="1500"/>
          </a:p>
        </p:txBody>
      </p:sp>
      <p:sp>
        <p:nvSpPr>
          <p:cNvPr id="378396500" name="Shape 19"/>
          <p:cNvSpPr/>
          <p:nvPr/>
        </p:nvSpPr>
        <p:spPr bwMode="auto">
          <a:xfrm>
            <a:off x="3749040" y="4800600"/>
            <a:ext cx="128016" cy="128016"/>
          </a:xfrm>
          <a:prstGeom prst="ellipse">
            <a:avLst/>
          </a:prstGeom>
          <a:solidFill>
            <a:srgbClr val="13C4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8590431" name="Text 20"/>
          <p:cNvSpPr/>
          <p:nvPr/>
        </p:nvSpPr>
        <p:spPr bwMode="auto">
          <a:xfrm>
            <a:off x="4005072" y="47731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Shehab Mohammed</a:t>
            </a:r>
            <a:endParaRPr lang="en-US" sz="1500"/>
          </a:p>
        </p:txBody>
      </p:sp>
      <p:sp>
        <p:nvSpPr>
          <p:cNvPr id="2081524899" name="Text 21"/>
          <p:cNvSpPr/>
          <p:nvPr/>
        </p:nvSpPr>
        <p:spPr bwMode="auto"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6FA8C4"/>
                </a:solidFill>
                <a:latin typeface="Calibri"/>
                <a:ea typeface="Calibri"/>
                <a:cs typeface="Calibri"/>
              </a:rPr>
              <a:t>1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6934136" name="Text 0"/>
          <p:cNvSpPr/>
          <p:nvPr/>
        </p:nvSpPr>
        <p:spPr bwMode="auto"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PROJECT OVERVIEW</a:t>
            </a:r>
            <a:endParaRPr lang="en-US" sz="1300"/>
          </a:p>
        </p:txBody>
      </p:sp>
      <p:sp>
        <p:nvSpPr>
          <p:cNvPr id="1316883300" name="Text 1"/>
          <p:cNvSpPr/>
          <p:nvPr/>
        </p:nvSpPr>
        <p:spPr bwMode="auto">
          <a:xfrm>
            <a:off x="640080" y="74980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0B2E4F"/>
                </a:solidFill>
                <a:latin typeface="Cambria"/>
                <a:ea typeface="Cambria"/>
                <a:cs typeface="Cambria"/>
              </a:rPr>
              <a:t>What is TelePulse?</a:t>
            </a:r>
            <a:endParaRPr lang="en-US" sz="3200"/>
          </a:p>
        </p:txBody>
      </p:sp>
      <p:sp>
        <p:nvSpPr>
          <p:cNvPr id="931566794" name="Text 2"/>
          <p:cNvSpPr/>
          <p:nvPr/>
        </p:nvSpPr>
        <p:spPr bwMode="auto">
          <a:xfrm>
            <a:off x="640080" y="1600200"/>
            <a:ext cx="6217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500">
                <a:solidFill>
                  <a:srgbClr val="13293D"/>
                </a:solidFill>
                <a:latin typeface="Calibri"/>
                <a:ea typeface="Calibri"/>
                <a:cs typeface="Calibri"/>
              </a:rPr>
              <a:t>TelePulse is a Big Data analytics platform that processes telecommunications activity across Milan using distributed technologies. The project transforms raw mobile network data into business-ready insights through an automated analytics pipeline.</a:t>
            </a:r>
            <a:endParaRPr lang="en-US" sz="1500"/>
          </a:p>
        </p:txBody>
      </p:sp>
      <p:sp>
        <p:nvSpPr>
          <p:cNvPr id="1013617814" name="Text 3"/>
          <p:cNvSpPr/>
          <p:nvPr/>
        </p:nvSpPr>
        <p:spPr bwMode="auto">
          <a:xfrm>
            <a:off x="640080" y="3657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OBJECTIVES</a:t>
            </a:r>
            <a:endParaRPr lang="en-US" sz="1200"/>
          </a:p>
        </p:txBody>
      </p:sp>
      <p:sp>
        <p:nvSpPr>
          <p:cNvPr id="1309278293" name="Shape 4"/>
          <p:cNvSpPr/>
          <p:nvPr/>
        </p:nvSpPr>
        <p:spPr bwMode="auto">
          <a:xfrm>
            <a:off x="640080" y="4069080"/>
            <a:ext cx="457200" cy="457200"/>
          </a:xfrm>
          <a:prstGeom prst="ellipse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87024128" name="Image 0" descr="/home/claude/telepulse/icons/layerGroup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42950" y="4171950"/>
            <a:ext cx="251460" cy="251460"/>
          </a:xfrm>
          <a:prstGeom prst="rect">
            <a:avLst/>
          </a:prstGeom>
        </p:spPr>
      </p:pic>
      <p:sp>
        <p:nvSpPr>
          <p:cNvPr id="974988703" name="Text 5"/>
          <p:cNvSpPr/>
          <p:nvPr/>
        </p:nvSpPr>
        <p:spPr bwMode="auto">
          <a:xfrm>
            <a:off x="1280160" y="41148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13293D"/>
                </a:solidFill>
                <a:latin typeface="Calibri"/>
                <a:ea typeface="Calibri"/>
                <a:cs typeface="Calibri"/>
              </a:rPr>
              <a:t>Build a complete Big Data pipeline</a:t>
            </a:r>
            <a:endParaRPr lang="en-US" sz="1400"/>
          </a:p>
        </p:txBody>
      </p:sp>
      <p:sp>
        <p:nvSpPr>
          <p:cNvPr id="652929792" name="Shape 6"/>
          <p:cNvSpPr/>
          <p:nvPr/>
        </p:nvSpPr>
        <p:spPr bwMode="auto">
          <a:xfrm>
            <a:off x="640080" y="4636008"/>
            <a:ext cx="457200" cy="457200"/>
          </a:xfrm>
          <a:prstGeom prst="ellipse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71110313" name="Image 1" descr="/home/claude/telepulse/icons/network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42950" y="4738878"/>
            <a:ext cx="251460" cy="251460"/>
          </a:xfrm>
          <a:prstGeom prst="rect">
            <a:avLst/>
          </a:prstGeom>
        </p:spPr>
      </p:pic>
      <p:sp>
        <p:nvSpPr>
          <p:cNvPr id="614796597" name="Text 7"/>
          <p:cNvSpPr/>
          <p:nvPr/>
        </p:nvSpPr>
        <p:spPr bwMode="auto">
          <a:xfrm>
            <a:off x="1280160" y="4681728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13293D"/>
                </a:solidFill>
                <a:latin typeface="Calibri"/>
                <a:ea typeface="Calibri"/>
                <a:cs typeface="Calibri"/>
              </a:rPr>
              <a:t>Analyze telecommunications activity</a:t>
            </a:r>
            <a:endParaRPr lang="en-US" sz="1400"/>
          </a:p>
        </p:txBody>
      </p:sp>
      <p:sp>
        <p:nvSpPr>
          <p:cNvPr id="2030629473" name="Shape 8"/>
          <p:cNvSpPr/>
          <p:nvPr/>
        </p:nvSpPr>
        <p:spPr bwMode="auto">
          <a:xfrm>
            <a:off x="640080" y="5202936"/>
            <a:ext cx="457200" cy="457200"/>
          </a:xfrm>
          <a:prstGeom prst="ellipse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28905907" name="Image 2" descr="/home/claude/telepulse/icons/chart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742950" y="5305806"/>
            <a:ext cx="251460" cy="251460"/>
          </a:xfrm>
          <a:prstGeom prst="rect">
            <a:avLst/>
          </a:prstGeom>
        </p:spPr>
      </p:pic>
      <p:sp>
        <p:nvSpPr>
          <p:cNvPr id="875834492" name="Text 9"/>
          <p:cNvSpPr/>
          <p:nvPr/>
        </p:nvSpPr>
        <p:spPr bwMode="auto">
          <a:xfrm>
            <a:off x="1280160" y="5248656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13293D"/>
                </a:solidFill>
                <a:latin typeface="Calibri"/>
                <a:ea typeface="Calibri"/>
                <a:cs typeface="Calibri"/>
              </a:rPr>
              <a:t>Generate analytical insights</a:t>
            </a:r>
            <a:endParaRPr lang="en-US" sz="1400"/>
          </a:p>
        </p:txBody>
      </p:sp>
      <p:sp>
        <p:nvSpPr>
          <p:cNvPr id="1528718370" name="Shape 10"/>
          <p:cNvSpPr/>
          <p:nvPr/>
        </p:nvSpPr>
        <p:spPr bwMode="auto">
          <a:xfrm>
            <a:off x="640080" y="5769864"/>
            <a:ext cx="457200" cy="457200"/>
          </a:xfrm>
          <a:prstGeom prst="ellipse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51110505" name="Image 3" descr="/home/claude/telepulse/icons/gauge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742950" y="5872734"/>
            <a:ext cx="251460" cy="251460"/>
          </a:xfrm>
          <a:prstGeom prst="rect">
            <a:avLst/>
          </a:prstGeom>
        </p:spPr>
      </p:pic>
      <p:sp>
        <p:nvSpPr>
          <p:cNvPr id="302028346" name="Text 11"/>
          <p:cNvSpPr/>
          <p:nvPr/>
        </p:nvSpPr>
        <p:spPr bwMode="auto">
          <a:xfrm>
            <a:off x="1280160" y="5815584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13293D"/>
                </a:solidFill>
                <a:latin typeface="Calibri"/>
                <a:ea typeface="Calibri"/>
                <a:cs typeface="Calibri"/>
              </a:rPr>
              <a:t>Deliver interactive dashboards</a:t>
            </a:r>
            <a:endParaRPr lang="en-US" sz="1400"/>
          </a:p>
        </p:txBody>
      </p:sp>
      <p:sp>
        <p:nvSpPr>
          <p:cNvPr id="1296938637" name="Shape 12"/>
          <p:cNvSpPr/>
          <p:nvPr/>
        </p:nvSpPr>
        <p:spPr bwMode="auto">
          <a:xfrm>
            <a:off x="7315200" y="1600200"/>
            <a:ext cx="4206240" cy="4572000"/>
          </a:xfrm>
          <a:prstGeom prst="roundRect">
            <a:avLst>
              <a:gd name="adj" fmla="val 2609"/>
            </a:avLst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7542454" name="Shape 13"/>
          <p:cNvSpPr/>
          <p:nvPr/>
        </p:nvSpPr>
        <p:spPr bwMode="auto">
          <a:xfrm>
            <a:off x="9006840" y="2606040"/>
            <a:ext cx="822960" cy="822960"/>
          </a:xfrm>
          <a:prstGeom prst="ellipse">
            <a:avLst/>
          </a:prstGeom>
          <a:ln w="15875">
            <a:solidFill>
              <a:srgbClr val="13C4C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4199737" name="Shape 14"/>
          <p:cNvSpPr/>
          <p:nvPr/>
        </p:nvSpPr>
        <p:spPr bwMode="auto">
          <a:xfrm>
            <a:off x="8641080" y="2240280"/>
            <a:ext cx="1554480" cy="1554480"/>
          </a:xfrm>
          <a:prstGeom prst="ellipse">
            <a:avLst/>
          </a:prstGeom>
          <a:ln w="15875">
            <a:solidFill>
              <a:srgbClr val="13C4CB">
                <a:alpha val="53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8232362" name="Shape 15"/>
          <p:cNvSpPr/>
          <p:nvPr/>
        </p:nvSpPr>
        <p:spPr bwMode="auto">
          <a:xfrm>
            <a:off x="8275320" y="1874520"/>
            <a:ext cx="2286000" cy="2286000"/>
          </a:xfrm>
          <a:prstGeom prst="ellipse">
            <a:avLst/>
          </a:prstGeom>
          <a:ln w="15875">
            <a:solidFill>
              <a:srgbClr val="13C4CB">
                <a:alpha val="41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6420679" name="Shape 16"/>
          <p:cNvSpPr/>
          <p:nvPr/>
        </p:nvSpPr>
        <p:spPr bwMode="auto">
          <a:xfrm>
            <a:off x="9125712" y="2724911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5054283" name="Image 4" descr="/home/claude/telepulse/icons/city_white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9259443" y="2858643"/>
            <a:ext cx="326898" cy="326898"/>
          </a:xfrm>
          <a:prstGeom prst="rect">
            <a:avLst/>
          </a:prstGeom>
        </p:spPr>
      </p:pic>
      <p:sp>
        <p:nvSpPr>
          <p:cNvPr id="5327885" name="Text 17"/>
          <p:cNvSpPr/>
          <p:nvPr/>
        </p:nvSpPr>
        <p:spPr bwMode="auto">
          <a:xfrm>
            <a:off x="7589520" y="3703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Milan, Italy</a:t>
            </a:r>
            <a:endParaRPr lang="en-US" sz="2000"/>
          </a:p>
        </p:txBody>
      </p:sp>
      <p:sp>
        <p:nvSpPr>
          <p:cNvPr id="1515705916" name="Text 18"/>
          <p:cNvSpPr/>
          <p:nvPr/>
        </p:nvSpPr>
        <p:spPr bwMode="auto">
          <a:xfrm>
            <a:off x="7589520" y="4160519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  <a:defRPr/>
            </a:pPr>
            <a:r>
              <a:rPr lang="en-US" sz="1250">
                <a:solidFill>
                  <a:srgbClr val="EAF3F8"/>
                </a:solidFill>
                <a:latin typeface="Calibri"/>
                <a:ea typeface="Calibri"/>
                <a:cs typeface="Calibri"/>
              </a:rPr>
              <a:t>Urban-scale telecommunications signal, transformed into actionable intelligence.</a:t>
            </a:r>
            <a:endParaRPr lang="en-US" sz="1250"/>
          </a:p>
        </p:txBody>
      </p:sp>
      <p:sp>
        <p:nvSpPr>
          <p:cNvPr id="518583337" name="Text 19"/>
          <p:cNvSpPr/>
          <p:nvPr/>
        </p:nvSpPr>
        <p:spPr bwMode="auto"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5A7386"/>
                </a:solidFill>
                <a:latin typeface="Calibri"/>
                <a:ea typeface="Calibri"/>
                <a:cs typeface="Calibri"/>
              </a:rPr>
              <a:t>2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0407917" name="Text 0"/>
          <p:cNvSpPr/>
          <p:nvPr/>
        </p:nvSpPr>
        <p:spPr bwMode="auto"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DATASET</a:t>
            </a:r>
            <a:endParaRPr lang="en-US" sz="1300"/>
          </a:p>
        </p:txBody>
      </p:sp>
      <p:sp>
        <p:nvSpPr>
          <p:cNvPr id="1744436346" name="Text 1"/>
          <p:cNvSpPr/>
          <p:nvPr/>
        </p:nvSpPr>
        <p:spPr bwMode="auto">
          <a:xfrm>
            <a:off x="640080" y="74980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0B2E4F"/>
                </a:solidFill>
                <a:latin typeface="Cambria"/>
                <a:ea typeface="Cambria"/>
                <a:cs typeface="Cambria"/>
              </a:rPr>
              <a:t>Telecom Italia Big Data Challenge</a:t>
            </a:r>
            <a:endParaRPr lang="en-US" sz="3200"/>
          </a:p>
        </p:txBody>
      </p:sp>
      <p:sp>
        <p:nvSpPr>
          <p:cNvPr id="1481841988" name="Text 2"/>
          <p:cNvSpPr/>
          <p:nvPr/>
        </p:nvSpPr>
        <p:spPr bwMode="auto">
          <a:xfrm>
            <a:off x="640080" y="155448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500">
                <a:solidFill>
                  <a:srgbClr val="13293D"/>
                </a:solidFill>
                <a:latin typeface="Calibri"/>
                <a:ea typeface="Calibri"/>
                <a:cs typeface="Calibri"/>
              </a:rPr>
              <a:t>TelePulse uses the Telecom Italia Big Data Challenge dataset containing anonymized telecommunications activity across Milan during November 2013.</a:t>
            </a:r>
            <a:endParaRPr lang="en-US" sz="1500"/>
          </a:p>
        </p:txBody>
      </p:sp>
      <p:sp>
        <p:nvSpPr>
          <p:cNvPr id="926125288" name="Shape 3"/>
          <p:cNvSpPr/>
          <p:nvPr/>
        </p:nvSpPr>
        <p:spPr bwMode="auto">
          <a:xfrm>
            <a:off x="640080" y="2514600"/>
            <a:ext cx="2084832" cy="1508759"/>
          </a:xfrm>
          <a:prstGeom prst="roundRect">
            <a:avLst>
              <a:gd name="adj" fmla="val 6061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17950238" name="Shape 4"/>
          <p:cNvSpPr/>
          <p:nvPr/>
        </p:nvSpPr>
        <p:spPr bwMode="auto">
          <a:xfrm>
            <a:off x="1453896" y="271576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34864862" name="Image 0" descr="/home/claude/telepulse/icons/databas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556766" y="2818638"/>
            <a:ext cx="251460" cy="251460"/>
          </a:xfrm>
          <a:prstGeom prst="rect">
            <a:avLst/>
          </a:prstGeom>
        </p:spPr>
      </p:pic>
      <p:sp>
        <p:nvSpPr>
          <p:cNvPr id="1611349960" name="Text 5"/>
          <p:cNvSpPr/>
          <p:nvPr/>
        </p:nvSpPr>
        <p:spPr bwMode="auto">
          <a:xfrm>
            <a:off x="731520" y="3291840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 spc="100">
                <a:solidFill>
                  <a:srgbClr val="5A7386"/>
                </a:solidFill>
                <a:latin typeface="Calibri"/>
                <a:ea typeface="Calibri"/>
                <a:cs typeface="Calibri"/>
              </a:rPr>
              <a:t>PROVIDER</a:t>
            </a:r>
            <a:endParaRPr lang="en-US" sz="1000"/>
          </a:p>
        </p:txBody>
      </p:sp>
      <p:sp>
        <p:nvSpPr>
          <p:cNvPr id="1331093470" name="Text 6"/>
          <p:cNvSpPr/>
          <p:nvPr/>
        </p:nvSpPr>
        <p:spPr bwMode="auto">
          <a:xfrm>
            <a:off x="731520" y="3547872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0B2E4F"/>
                </a:solidFill>
                <a:latin typeface="Calibri"/>
                <a:ea typeface="Calibri"/>
                <a:cs typeface="Calibri"/>
              </a:rPr>
              <a:t>Telecom Italia</a:t>
            </a:r>
            <a:endParaRPr lang="en-US" sz="1300"/>
          </a:p>
        </p:txBody>
      </p:sp>
      <p:sp>
        <p:nvSpPr>
          <p:cNvPr id="2101995294" name="Shape 7"/>
          <p:cNvSpPr/>
          <p:nvPr/>
        </p:nvSpPr>
        <p:spPr bwMode="auto">
          <a:xfrm>
            <a:off x="2889504" y="2514600"/>
            <a:ext cx="2084832" cy="1508759"/>
          </a:xfrm>
          <a:prstGeom prst="roundRect">
            <a:avLst>
              <a:gd name="adj" fmla="val 6061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1919280" name="Shape 8"/>
          <p:cNvSpPr/>
          <p:nvPr/>
        </p:nvSpPr>
        <p:spPr bwMode="auto">
          <a:xfrm>
            <a:off x="3703320" y="271576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56849436" name="Image 1" descr="/home/claude/telepulse/icons/location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806190" y="2818638"/>
            <a:ext cx="251460" cy="251460"/>
          </a:xfrm>
          <a:prstGeom prst="rect">
            <a:avLst/>
          </a:prstGeom>
        </p:spPr>
      </p:pic>
      <p:sp>
        <p:nvSpPr>
          <p:cNvPr id="1152024315" name="Text 9"/>
          <p:cNvSpPr/>
          <p:nvPr/>
        </p:nvSpPr>
        <p:spPr bwMode="auto">
          <a:xfrm>
            <a:off x="2980944" y="3291840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 spc="100">
                <a:solidFill>
                  <a:srgbClr val="5A7386"/>
                </a:solidFill>
                <a:latin typeface="Calibri"/>
                <a:ea typeface="Calibri"/>
                <a:cs typeface="Calibri"/>
              </a:rPr>
              <a:t>LOCATION</a:t>
            </a:r>
            <a:endParaRPr lang="en-US" sz="1000"/>
          </a:p>
        </p:txBody>
      </p:sp>
      <p:sp>
        <p:nvSpPr>
          <p:cNvPr id="1390094576" name="Text 10"/>
          <p:cNvSpPr/>
          <p:nvPr/>
        </p:nvSpPr>
        <p:spPr bwMode="auto">
          <a:xfrm>
            <a:off x="2980944" y="3547872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0B2E4F"/>
                </a:solidFill>
                <a:latin typeface="Calibri"/>
                <a:ea typeface="Calibri"/>
                <a:cs typeface="Calibri"/>
              </a:rPr>
              <a:t>Milan, Italy</a:t>
            </a:r>
            <a:endParaRPr lang="en-US" sz="1300"/>
          </a:p>
        </p:txBody>
      </p:sp>
      <p:sp>
        <p:nvSpPr>
          <p:cNvPr id="936053143" name="Shape 11"/>
          <p:cNvSpPr/>
          <p:nvPr/>
        </p:nvSpPr>
        <p:spPr bwMode="auto">
          <a:xfrm>
            <a:off x="5138928" y="2514600"/>
            <a:ext cx="2084832" cy="1508759"/>
          </a:xfrm>
          <a:prstGeom prst="roundRect">
            <a:avLst>
              <a:gd name="adj" fmla="val 6061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8444745" name="Shape 12"/>
          <p:cNvSpPr/>
          <p:nvPr/>
        </p:nvSpPr>
        <p:spPr bwMode="auto">
          <a:xfrm>
            <a:off x="5952744" y="271576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34365071" name="Image 2" descr="/home/claude/telepulse/icons/calendar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055614" y="2818638"/>
            <a:ext cx="251460" cy="251460"/>
          </a:xfrm>
          <a:prstGeom prst="rect">
            <a:avLst/>
          </a:prstGeom>
        </p:spPr>
      </p:pic>
      <p:sp>
        <p:nvSpPr>
          <p:cNvPr id="776138366" name="Text 13"/>
          <p:cNvSpPr/>
          <p:nvPr/>
        </p:nvSpPr>
        <p:spPr bwMode="auto">
          <a:xfrm>
            <a:off x="5230368" y="3291840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 spc="100">
                <a:solidFill>
                  <a:srgbClr val="5A7386"/>
                </a:solidFill>
                <a:latin typeface="Calibri"/>
                <a:ea typeface="Calibri"/>
                <a:cs typeface="Calibri"/>
              </a:rPr>
              <a:t>TIME PERIOD</a:t>
            </a:r>
            <a:endParaRPr lang="en-US" sz="1000"/>
          </a:p>
        </p:txBody>
      </p:sp>
      <p:sp>
        <p:nvSpPr>
          <p:cNvPr id="943967675" name="Text 14"/>
          <p:cNvSpPr/>
          <p:nvPr/>
        </p:nvSpPr>
        <p:spPr bwMode="auto">
          <a:xfrm>
            <a:off x="5230368" y="3547872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0B2E4F"/>
                </a:solidFill>
                <a:latin typeface="Calibri"/>
                <a:ea typeface="Calibri"/>
                <a:cs typeface="Calibri"/>
              </a:rPr>
              <a:t>November 2013</a:t>
            </a:r>
            <a:endParaRPr lang="en-US" sz="1300"/>
          </a:p>
        </p:txBody>
      </p:sp>
      <p:sp>
        <p:nvSpPr>
          <p:cNvPr id="1943736741" name="Shape 15"/>
          <p:cNvSpPr/>
          <p:nvPr/>
        </p:nvSpPr>
        <p:spPr bwMode="auto">
          <a:xfrm>
            <a:off x="7388352" y="2514600"/>
            <a:ext cx="2084832" cy="1508759"/>
          </a:xfrm>
          <a:prstGeom prst="roundRect">
            <a:avLst>
              <a:gd name="adj" fmla="val 6061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1676163" name="Shape 16"/>
          <p:cNvSpPr/>
          <p:nvPr/>
        </p:nvSpPr>
        <p:spPr bwMode="auto">
          <a:xfrm>
            <a:off x="8202168" y="271576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55572845" name="Image 3" descr="/home/claude/telepulse/icons/file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8305038" y="2818638"/>
            <a:ext cx="251460" cy="251460"/>
          </a:xfrm>
          <a:prstGeom prst="rect">
            <a:avLst/>
          </a:prstGeom>
        </p:spPr>
      </p:pic>
      <p:sp>
        <p:nvSpPr>
          <p:cNvPr id="1517500373" name="Text 17"/>
          <p:cNvSpPr/>
          <p:nvPr/>
        </p:nvSpPr>
        <p:spPr bwMode="auto">
          <a:xfrm>
            <a:off x="7479792" y="3291840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 spc="100">
                <a:solidFill>
                  <a:srgbClr val="5A7386"/>
                </a:solidFill>
                <a:latin typeface="Calibri"/>
                <a:ea typeface="Calibri"/>
                <a:cs typeface="Calibri"/>
              </a:rPr>
              <a:t>FORMAT</a:t>
            </a:r>
            <a:endParaRPr lang="en-US" sz="1000"/>
          </a:p>
        </p:txBody>
      </p:sp>
      <p:sp>
        <p:nvSpPr>
          <p:cNvPr id="698490094" name="Text 18"/>
          <p:cNvSpPr/>
          <p:nvPr/>
        </p:nvSpPr>
        <p:spPr bwMode="auto">
          <a:xfrm>
            <a:off x="7479792" y="3547872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0B2E4F"/>
                </a:solidFill>
                <a:latin typeface="Calibri"/>
                <a:ea typeface="Calibri"/>
                <a:cs typeface="Calibri"/>
              </a:rPr>
              <a:t>Daily CSV files</a:t>
            </a:r>
            <a:endParaRPr lang="en-US" sz="1300"/>
          </a:p>
        </p:txBody>
      </p:sp>
      <p:sp>
        <p:nvSpPr>
          <p:cNvPr id="1930731436" name="Shape 19"/>
          <p:cNvSpPr/>
          <p:nvPr/>
        </p:nvSpPr>
        <p:spPr bwMode="auto">
          <a:xfrm>
            <a:off x="9637776" y="2514600"/>
            <a:ext cx="2084832" cy="1508759"/>
          </a:xfrm>
          <a:prstGeom prst="roundRect">
            <a:avLst>
              <a:gd name="adj" fmla="val 6061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59306420" name="Shape 20"/>
          <p:cNvSpPr/>
          <p:nvPr/>
        </p:nvSpPr>
        <p:spPr bwMode="auto">
          <a:xfrm>
            <a:off x="10451592" y="271576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80995272" name="Image 4" descr="/home/claude/telepulse/icons/weight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10554462" y="2818638"/>
            <a:ext cx="251460" cy="251460"/>
          </a:xfrm>
          <a:prstGeom prst="rect">
            <a:avLst/>
          </a:prstGeom>
        </p:spPr>
      </p:pic>
      <p:sp>
        <p:nvSpPr>
          <p:cNvPr id="1380606189" name="Text 21"/>
          <p:cNvSpPr/>
          <p:nvPr/>
        </p:nvSpPr>
        <p:spPr bwMode="auto">
          <a:xfrm>
            <a:off x="9729215" y="3291840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 spc="100">
                <a:solidFill>
                  <a:srgbClr val="5A7386"/>
                </a:solidFill>
                <a:latin typeface="Calibri"/>
                <a:ea typeface="Calibri"/>
                <a:cs typeface="Calibri"/>
              </a:rPr>
              <a:t>SIZE</a:t>
            </a:r>
            <a:endParaRPr lang="en-US" sz="1000"/>
          </a:p>
        </p:txBody>
      </p:sp>
      <p:sp>
        <p:nvSpPr>
          <p:cNvPr id="1144218389" name="Text 22"/>
          <p:cNvSpPr/>
          <p:nvPr/>
        </p:nvSpPr>
        <p:spPr bwMode="auto">
          <a:xfrm>
            <a:off x="9729215" y="3547872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0B2E4F"/>
                </a:solidFill>
                <a:latin typeface="Calibri"/>
                <a:ea typeface="Calibri"/>
                <a:cs typeface="Calibri"/>
              </a:rPr>
              <a:t>~1.5 GB</a:t>
            </a:r>
            <a:endParaRPr lang="en-US" sz="1300"/>
          </a:p>
        </p:txBody>
      </p:sp>
      <p:sp>
        <p:nvSpPr>
          <p:cNvPr id="397281609" name="Text 23"/>
          <p:cNvSpPr/>
          <p:nvPr/>
        </p:nvSpPr>
        <p:spPr bwMode="auto">
          <a:xfrm>
            <a:off x="640080" y="4434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DATA INCLUDES</a:t>
            </a:r>
            <a:endParaRPr lang="en-US" sz="1200"/>
          </a:p>
        </p:txBody>
      </p:sp>
      <p:sp>
        <p:nvSpPr>
          <p:cNvPr id="1088212845" name="Shape 24"/>
          <p:cNvSpPr/>
          <p:nvPr/>
        </p:nvSpPr>
        <p:spPr bwMode="auto">
          <a:xfrm>
            <a:off x="640080" y="4846320"/>
            <a:ext cx="2606040" cy="1005840"/>
          </a:xfrm>
          <a:prstGeom prst="roundRect">
            <a:avLst>
              <a:gd name="adj" fmla="val 9091"/>
            </a:avLst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0886189" name="Shape 25"/>
          <p:cNvSpPr/>
          <p:nvPr/>
        </p:nvSpPr>
        <p:spPr bwMode="auto">
          <a:xfrm>
            <a:off x="841248" y="50977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52011659" name="Image 5" descr="/home/claude/telepulse/icons/sms_white.png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954405" y="5210937"/>
            <a:ext cx="276606" cy="276606"/>
          </a:xfrm>
          <a:prstGeom prst="rect">
            <a:avLst/>
          </a:prstGeom>
        </p:spPr>
      </p:pic>
      <p:sp>
        <p:nvSpPr>
          <p:cNvPr id="404686434" name="Text 26"/>
          <p:cNvSpPr/>
          <p:nvPr/>
        </p:nvSpPr>
        <p:spPr bwMode="auto">
          <a:xfrm>
            <a:off x="1463040" y="484632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SMS</a:t>
            </a:r>
            <a:endParaRPr lang="en-US" sz="1350"/>
          </a:p>
        </p:txBody>
      </p:sp>
      <p:sp>
        <p:nvSpPr>
          <p:cNvPr id="1298566697" name="Shape 27"/>
          <p:cNvSpPr/>
          <p:nvPr/>
        </p:nvSpPr>
        <p:spPr bwMode="auto">
          <a:xfrm>
            <a:off x="3410712" y="4846320"/>
            <a:ext cx="2606040" cy="1005840"/>
          </a:xfrm>
          <a:prstGeom prst="roundRect">
            <a:avLst>
              <a:gd name="adj" fmla="val 9091"/>
            </a:avLst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26544818" name="Shape 28"/>
          <p:cNvSpPr/>
          <p:nvPr/>
        </p:nvSpPr>
        <p:spPr bwMode="auto">
          <a:xfrm>
            <a:off x="3611880" y="50977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40051884" name="Image 6" descr="/home/claude/telepulse/icons/phone_white.png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3725036" y="5210937"/>
            <a:ext cx="276606" cy="276606"/>
          </a:xfrm>
          <a:prstGeom prst="rect">
            <a:avLst/>
          </a:prstGeom>
        </p:spPr>
      </p:pic>
      <p:sp>
        <p:nvSpPr>
          <p:cNvPr id="10975697" name="Text 29"/>
          <p:cNvSpPr/>
          <p:nvPr/>
        </p:nvSpPr>
        <p:spPr bwMode="auto">
          <a:xfrm>
            <a:off x="4233672" y="484632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Calls</a:t>
            </a:r>
            <a:endParaRPr lang="en-US" sz="1350"/>
          </a:p>
        </p:txBody>
      </p:sp>
      <p:sp>
        <p:nvSpPr>
          <p:cNvPr id="1958283603" name="Shape 30"/>
          <p:cNvSpPr/>
          <p:nvPr/>
        </p:nvSpPr>
        <p:spPr bwMode="auto">
          <a:xfrm>
            <a:off x="6181344" y="4846320"/>
            <a:ext cx="2606040" cy="1005840"/>
          </a:xfrm>
          <a:prstGeom prst="roundRect">
            <a:avLst>
              <a:gd name="adj" fmla="val 9091"/>
            </a:avLst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8385538" name="Shape 31"/>
          <p:cNvSpPr/>
          <p:nvPr/>
        </p:nvSpPr>
        <p:spPr bwMode="auto">
          <a:xfrm>
            <a:off x="6382512" y="50977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31591359" name="Image 7" descr="/home/claude/telepulse/icons/wifi_white.png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>
            <a:off x="6495669" y="5210937"/>
            <a:ext cx="276606" cy="276606"/>
          </a:xfrm>
          <a:prstGeom prst="rect">
            <a:avLst/>
          </a:prstGeom>
        </p:spPr>
      </p:pic>
      <p:sp>
        <p:nvSpPr>
          <p:cNvPr id="608523976" name="Text 32"/>
          <p:cNvSpPr/>
          <p:nvPr/>
        </p:nvSpPr>
        <p:spPr bwMode="auto">
          <a:xfrm>
            <a:off x="7004304" y="484632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Internet Traffic</a:t>
            </a:r>
            <a:endParaRPr lang="en-US" sz="1350"/>
          </a:p>
        </p:txBody>
      </p:sp>
      <p:sp>
        <p:nvSpPr>
          <p:cNvPr id="1738329673" name="Shape 33"/>
          <p:cNvSpPr/>
          <p:nvPr/>
        </p:nvSpPr>
        <p:spPr bwMode="auto">
          <a:xfrm>
            <a:off x="8951976" y="4846320"/>
            <a:ext cx="2606040" cy="1005840"/>
          </a:xfrm>
          <a:prstGeom prst="roundRect">
            <a:avLst>
              <a:gd name="adj" fmla="val 9091"/>
            </a:avLst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225693" name="Shape 34"/>
          <p:cNvSpPr/>
          <p:nvPr/>
        </p:nvSpPr>
        <p:spPr bwMode="auto">
          <a:xfrm>
            <a:off x="9153144" y="50977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74266166" name="Image 8" descr="/home/claude/telepulse/icons/mapPin_white.png"/>
          <p:cNvPicPr>
            <a:picLocks noChangeAspect="1"/>
          </p:cNvPicPr>
          <p:nvPr/>
        </p:nvPicPr>
        <p:blipFill rotWithShape="1">
          <a:blip r:embed="rId11"/>
          <a:stretch/>
        </p:blipFill>
        <p:spPr bwMode="auto">
          <a:xfrm>
            <a:off x="9266301" y="5210937"/>
            <a:ext cx="276606" cy="276606"/>
          </a:xfrm>
          <a:prstGeom prst="rect">
            <a:avLst/>
          </a:prstGeom>
        </p:spPr>
      </p:pic>
      <p:sp>
        <p:nvSpPr>
          <p:cNvPr id="1125056659" name="Text 35"/>
          <p:cNvSpPr/>
          <p:nvPr/>
        </p:nvSpPr>
        <p:spPr bwMode="auto">
          <a:xfrm>
            <a:off x="9774936" y="484632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Province Interactions</a:t>
            </a:r>
            <a:endParaRPr lang="en-US" sz="1350"/>
          </a:p>
        </p:txBody>
      </p:sp>
      <p:sp>
        <p:nvSpPr>
          <p:cNvPr id="1085215475" name="Text 36"/>
          <p:cNvSpPr/>
          <p:nvPr/>
        </p:nvSpPr>
        <p:spPr bwMode="auto"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5A7386"/>
                </a:solidFill>
                <a:latin typeface="Calibri"/>
                <a:ea typeface="Calibri"/>
                <a:cs typeface="Calibri"/>
              </a:rPr>
              <a:t>3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3253200" name="Text 0"/>
          <p:cNvSpPr/>
          <p:nvPr/>
        </p:nvSpPr>
        <p:spPr bwMode="auto"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TECHNOLOGY STACK</a:t>
            </a:r>
            <a:endParaRPr lang="en-US" sz="1300"/>
          </a:p>
        </p:txBody>
      </p:sp>
      <p:sp>
        <p:nvSpPr>
          <p:cNvPr id="1136250983" name="Text 1"/>
          <p:cNvSpPr/>
          <p:nvPr/>
        </p:nvSpPr>
        <p:spPr bwMode="auto">
          <a:xfrm>
            <a:off x="640080" y="74980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0B2E4F"/>
                </a:solidFill>
                <a:latin typeface="Cambria"/>
                <a:ea typeface="Cambria"/>
                <a:cs typeface="Cambria"/>
              </a:rPr>
              <a:t>Technologies Used</a:t>
            </a:r>
            <a:endParaRPr lang="en-US" sz="3200"/>
          </a:p>
        </p:txBody>
      </p:sp>
      <p:sp>
        <p:nvSpPr>
          <p:cNvPr id="847491820" name="Shape 2"/>
          <p:cNvSpPr/>
          <p:nvPr/>
        </p:nvSpPr>
        <p:spPr bwMode="auto">
          <a:xfrm>
            <a:off x="764896" y="1783080"/>
            <a:ext cx="2514600" cy="1920240"/>
          </a:xfrm>
          <a:prstGeom prst="roundRect">
            <a:avLst>
              <a:gd name="adj" fmla="val 5714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976649" name="Shape 3"/>
          <p:cNvSpPr/>
          <p:nvPr/>
        </p:nvSpPr>
        <p:spPr bwMode="auto">
          <a:xfrm>
            <a:off x="1693012" y="2039112"/>
            <a:ext cx="658368" cy="658368"/>
          </a:xfrm>
          <a:prstGeom prst="ellipse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84251654" name="Image 0" descr="/home/claude/telepulse/icons/docker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841144" y="2187245"/>
            <a:ext cx="362102" cy="362102"/>
          </a:xfrm>
          <a:prstGeom prst="rect">
            <a:avLst/>
          </a:prstGeom>
        </p:spPr>
      </p:pic>
      <p:sp>
        <p:nvSpPr>
          <p:cNvPr id="1876828396" name="Text 4"/>
          <p:cNvSpPr/>
          <p:nvPr/>
        </p:nvSpPr>
        <p:spPr bwMode="auto">
          <a:xfrm>
            <a:off x="856336" y="27889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50" b="1">
                <a:solidFill>
                  <a:srgbClr val="0B2E4F"/>
                </a:solidFill>
                <a:latin typeface="Calibri"/>
                <a:ea typeface="Calibri"/>
                <a:cs typeface="Calibri"/>
              </a:rPr>
              <a:t>Docker</a:t>
            </a:r>
            <a:endParaRPr lang="en-US" sz="1450"/>
          </a:p>
        </p:txBody>
      </p:sp>
      <p:sp>
        <p:nvSpPr>
          <p:cNvPr id="15871773" name="Text 5"/>
          <p:cNvSpPr/>
          <p:nvPr/>
        </p:nvSpPr>
        <p:spPr bwMode="auto">
          <a:xfrm>
            <a:off x="856336" y="317296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 spc="15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INFRASTRUCTURE</a:t>
            </a:r>
            <a:endParaRPr lang="en-US" sz="1000"/>
          </a:p>
        </p:txBody>
      </p:sp>
      <p:sp>
        <p:nvSpPr>
          <p:cNvPr id="1429188635" name="Shape 6"/>
          <p:cNvSpPr/>
          <p:nvPr/>
        </p:nvSpPr>
        <p:spPr bwMode="auto">
          <a:xfrm>
            <a:off x="3480664" y="1783080"/>
            <a:ext cx="2514600" cy="1920240"/>
          </a:xfrm>
          <a:prstGeom prst="roundRect">
            <a:avLst>
              <a:gd name="adj" fmla="val 5714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97219422" name="Shape 7"/>
          <p:cNvSpPr/>
          <p:nvPr/>
        </p:nvSpPr>
        <p:spPr bwMode="auto">
          <a:xfrm>
            <a:off x="4408780" y="2039112"/>
            <a:ext cx="658368" cy="658368"/>
          </a:xfrm>
          <a:prstGeom prst="ellipse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56819792" name="Image 1" descr="/home/claude/telepulse/icons/linux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556912" y="2187245"/>
            <a:ext cx="362102" cy="362102"/>
          </a:xfrm>
          <a:prstGeom prst="rect">
            <a:avLst/>
          </a:prstGeom>
        </p:spPr>
      </p:pic>
      <p:sp>
        <p:nvSpPr>
          <p:cNvPr id="776089636" name="Text 8"/>
          <p:cNvSpPr/>
          <p:nvPr/>
        </p:nvSpPr>
        <p:spPr bwMode="auto">
          <a:xfrm>
            <a:off x="3572103" y="27889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50" b="1">
                <a:solidFill>
                  <a:srgbClr val="0B2E4F"/>
                </a:solidFill>
                <a:latin typeface="Calibri"/>
                <a:ea typeface="Calibri"/>
                <a:cs typeface="Calibri"/>
              </a:rPr>
              <a:t>Linux</a:t>
            </a:r>
            <a:endParaRPr lang="en-US" sz="1450"/>
          </a:p>
        </p:txBody>
      </p:sp>
      <p:sp>
        <p:nvSpPr>
          <p:cNvPr id="2028324102" name="Text 9"/>
          <p:cNvSpPr/>
          <p:nvPr/>
        </p:nvSpPr>
        <p:spPr bwMode="auto">
          <a:xfrm>
            <a:off x="3572103" y="317296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 spc="15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INFRASTRUCTURE</a:t>
            </a:r>
            <a:endParaRPr lang="en-US" sz="1000"/>
          </a:p>
        </p:txBody>
      </p:sp>
      <p:sp>
        <p:nvSpPr>
          <p:cNvPr id="1613217854" name="Shape 10"/>
          <p:cNvSpPr/>
          <p:nvPr/>
        </p:nvSpPr>
        <p:spPr bwMode="auto">
          <a:xfrm>
            <a:off x="6196432" y="1783080"/>
            <a:ext cx="2514600" cy="1920240"/>
          </a:xfrm>
          <a:prstGeom prst="roundRect">
            <a:avLst>
              <a:gd name="adj" fmla="val 5714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2546738" name="Shape 11"/>
          <p:cNvSpPr/>
          <p:nvPr/>
        </p:nvSpPr>
        <p:spPr bwMode="auto">
          <a:xfrm>
            <a:off x="7124548" y="2039112"/>
            <a:ext cx="658368" cy="658368"/>
          </a:xfrm>
          <a:prstGeom prst="ellipse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25393818" name="Image 2" descr="/home/claude/telepulse/icons/hadoop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7272680" y="2187245"/>
            <a:ext cx="362102" cy="362102"/>
          </a:xfrm>
          <a:prstGeom prst="rect">
            <a:avLst/>
          </a:prstGeom>
        </p:spPr>
      </p:pic>
      <p:sp>
        <p:nvSpPr>
          <p:cNvPr id="638515894" name="Text 12"/>
          <p:cNvSpPr/>
          <p:nvPr/>
        </p:nvSpPr>
        <p:spPr bwMode="auto">
          <a:xfrm>
            <a:off x="6287872" y="27889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50" b="1">
                <a:solidFill>
                  <a:srgbClr val="0B2E4F"/>
                </a:solidFill>
                <a:latin typeface="Calibri"/>
                <a:ea typeface="Calibri"/>
                <a:cs typeface="Calibri"/>
              </a:rPr>
              <a:t>Hadoop HDFS</a:t>
            </a:r>
            <a:endParaRPr lang="en-US" sz="1450"/>
          </a:p>
        </p:txBody>
      </p:sp>
      <p:sp>
        <p:nvSpPr>
          <p:cNvPr id="793672328" name="Text 13"/>
          <p:cNvSpPr/>
          <p:nvPr/>
        </p:nvSpPr>
        <p:spPr bwMode="auto">
          <a:xfrm>
            <a:off x="6287872" y="317296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 spc="15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STORAGE</a:t>
            </a:r>
            <a:endParaRPr lang="en-US" sz="1000"/>
          </a:p>
        </p:txBody>
      </p:sp>
      <p:sp>
        <p:nvSpPr>
          <p:cNvPr id="427220064" name="Shape 14"/>
          <p:cNvSpPr/>
          <p:nvPr/>
        </p:nvSpPr>
        <p:spPr bwMode="auto">
          <a:xfrm>
            <a:off x="8912200" y="1783080"/>
            <a:ext cx="2514600" cy="1920240"/>
          </a:xfrm>
          <a:prstGeom prst="roundRect">
            <a:avLst>
              <a:gd name="adj" fmla="val 5714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49278421" name="Shape 15"/>
          <p:cNvSpPr/>
          <p:nvPr/>
        </p:nvSpPr>
        <p:spPr bwMode="auto">
          <a:xfrm>
            <a:off x="9840316" y="2039112"/>
            <a:ext cx="658368" cy="658368"/>
          </a:xfrm>
          <a:prstGeom prst="ellipse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9685707" name="Image 3" descr="/home/claude/telepulse/icons/spark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9988448" y="2187245"/>
            <a:ext cx="362102" cy="362102"/>
          </a:xfrm>
          <a:prstGeom prst="rect">
            <a:avLst/>
          </a:prstGeom>
        </p:spPr>
      </p:pic>
      <p:sp>
        <p:nvSpPr>
          <p:cNvPr id="1052047920" name="Text 16"/>
          <p:cNvSpPr/>
          <p:nvPr/>
        </p:nvSpPr>
        <p:spPr bwMode="auto">
          <a:xfrm>
            <a:off x="9003640" y="27889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50" b="1">
                <a:solidFill>
                  <a:srgbClr val="0B2E4F"/>
                </a:solidFill>
                <a:latin typeface="Calibri"/>
                <a:ea typeface="Calibri"/>
                <a:cs typeface="Calibri"/>
              </a:rPr>
              <a:t>Apache Spark</a:t>
            </a:r>
            <a:endParaRPr lang="en-US" sz="1450"/>
          </a:p>
        </p:txBody>
      </p:sp>
      <p:sp>
        <p:nvSpPr>
          <p:cNvPr id="893417838" name="Text 17"/>
          <p:cNvSpPr/>
          <p:nvPr/>
        </p:nvSpPr>
        <p:spPr bwMode="auto">
          <a:xfrm>
            <a:off x="9003640" y="317296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 spc="15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PROCESSING</a:t>
            </a:r>
            <a:endParaRPr lang="en-US" sz="1000"/>
          </a:p>
        </p:txBody>
      </p:sp>
      <p:sp>
        <p:nvSpPr>
          <p:cNvPr id="190291417" name="Shape 18"/>
          <p:cNvSpPr/>
          <p:nvPr/>
        </p:nvSpPr>
        <p:spPr bwMode="auto">
          <a:xfrm>
            <a:off x="764896" y="3977640"/>
            <a:ext cx="2514600" cy="1920240"/>
          </a:xfrm>
          <a:prstGeom prst="roundRect">
            <a:avLst>
              <a:gd name="adj" fmla="val 5714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58048247" name="Shape 19"/>
          <p:cNvSpPr/>
          <p:nvPr/>
        </p:nvSpPr>
        <p:spPr bwMode="auto">
          <a:xfrm>
            <a:off x="1693012" y="4233672"/>
            <a:ext cx="658368" cy="658368"/>
          </a:xfrm>
          <a:prstGeom prst="ellipse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20633212" name="Image 4" descr="/home/claude/telepulse/icons/hive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1841144" y="4381805"/>
            <a:ext cx="362102" cy="362102"/>
          </a:xfrm>
          <a:prstGeom prst="rect">
            <a:avLst/>
          </a:prstGeom>
        </p:spPr>
      </p:pic>
      <p:sp>
        <p:nvSpPr>
          <p:cNvPr id="823172705" name="Text 20"/>
          <p:cNvSpPr/>
          <p:nvPr/>
        </p:nvSpPr>
        <p:spPr bwMode="auto">
          <a:xfrm>
            <a:off x="856336" y="49834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50" b="1">
                <a:solidFill>
                  <a:srgbClr val="0B2E4F"/>
                </a:solidFill>
                <a:latin typeface="Calibri"/>
                <a:ea typeface="Calibri"/>
                <a:cs typeface="Calibri"/>
              </a:rPr>
              <a:t>Apache Hive</a:t>
            </a:r>
            <a:endParaRPr lang="en-US" sz="1450"/>
          </a:p>
        </p:txBody>
      </p:sp>
      <p:sp>
        <p:nvSpPr>
          <p:cNvPr id="2040030177" name="Text 21"/>
          <p:cNvSpPr/>
          <p:nvPr/>
        </p:nvSpPr>
        <p:spPr bwMode="auto">
          <a:xfrm>
            <a:off x="856336" y="536752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 spc="15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WAREHOUSE</a:t>
            </a:r>
            <a:endParaRPr lang="en-US" sz="1000"/>
          </a:p>
        </p:txBody>
      </p:sp>
      <p:sp>
        <p:nvSpPr>
          <p:cNvPr id="715782368" name="Shape 22"/>
          <p:cNvSpPr/>
          <p:nvPr/>
        </p:nvSpPr>
        <p:spPr bwMode="auto">
          <a:xfrm>
            <a:off x="3480664" y="3977640"/>
            <a:ext cx="2514600" cy="1920240"/>
          </a:xfrm>
          <a:prstGeom prst="roundRect">
            <a:avLst>
              <a:gd name="adj" fmla="val 5714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0743925" name="Shape 23"/>
          <p:cNvSpPr/>
          <p:nvPr/>
        </p:nvSpPr>
        <p:spPr bwMode="auto">
          <a:xfrm>
            <a:off x="4408780" y="4233672"/>
            <a:ext cx="658368" cy="658368"/>
          </a:xfrm>
          <a:prstGeom prst="ellipse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98490989" name="Image 5" descr="/home/claude/telepulse/icons/powerbi.png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4556912" y="4381805"/>
            <a:ext cx="362102" cy="362102"/>
          </a:xfrm>
          <a:prstGeom prst="rect">
            <a:avLst/>
          </a:prstGeom>
        </p:spPr>
      </p:pic>
      <p:sp>
        <p:nvSpPr>
          <p:cNvPr id="1551245953" name="Text 24"/>
          <p:cNvSpPr/>
          <p:nvPr/>
        </p:nvSpPr>
        <p:spPr bwMode="auto">
          <a:xfrm>
            <a:off x="3572103" y="49834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50" b="1">
                <a:solidFill>
                  <a:srgbClr val="0B2E4F"/>
                </a:solidFill>
                <a:latin typeface="Calibri"/>
                <a:ea typeface="Calibri"/>
                <a:cs typeface="Calibri"/>
              </a:rPr>
              <a:t>Power BI</a:t>
            </a:r>
            <a:endParaRPr lang="en-US" sz="1450"/>
          </a:p>
        </p:txBody>
      </p:sp>
      <p:sp>
        <p:nvSpPr>
          <p:cNvPr id="1043797358" name="Text 25"/>
          <p:cNvSpPr/>
          <p:nvPr/>
        </p:nvSpPr>
        <p:spPr bwMode="auto">
          <a:xfrm>
            <a:off x="3572103" y="536752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 spc="15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VISUALIZATION</a:t>
            </a:r>
            <a:endParaRPr lang="en-US" sz="1000"/>
          </a:p>
        </p:txBody>
      </p:sp>
      <p:sp>
        <p:nvSpPr>
          <p:cNvPr id="13803997" name="Shape 26"/>
          <p:cNvSpPr/>
          <p:nvPr/>
        </p:nvSpPr>
        <p:spPr bwMode="auto">
          <a:xfrm>
            <a:off x="6196432" y="3977640"/>
            <a:ext cx="2514600" cy="1920240"/>
          </a:xfrm>
          <a:prstGeom prst="roundRect">
            <a:avLst>
              <a:gd name="adj" fmla="val 5714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9011086" name="Shape 27"/>
          <p:cNvSpPr/>
          <p:nvPr/>
        </p:nvSpPr>
        <p:spPr bwMode="auto">
          <a:xfrm>
            <a:off x="7124548" y="4233672"/>
            <a:ext cx="658368" cy="658368"/>
          </a:xfrm>
          <a:prstGeom prst="ellipse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79475911" name="Image 6" descr="/home/claude/telepulse/icons/python.png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7272680" y="4381805"/>
            <a:ext cx="362102" cy="362102"/>
          </a:xfrm>
          <a:prstGeom prst="rect">
            <a:avLst/>
          </a:prstGeom>
        </p:spPr>
      </p:pic>
      <p:sp>
        <p:nvSpPr>
          <p:cNvPr id="658524483" name="Text 28"/>
          <p:cNvSpPr/>
          <p:nvPr/>
        </p:nvSpPr>
        <p:spPr bwMode="auto">
          <a:xfrm>
            <a:off x="6287872" y="49834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50" b="1">
                <a:solidFill>
                  <a:srgbClr val="0B2E4F"/>
                </a:solidFill>
                <a:latin typeface="Calibri"/>
                <a:ea typeface="Calibri"/>
                <a:cs typeface="Calibri"/>
              </a:rPr>
              <a:t>Python</a:t>
            </a:r>
            <a:endParaRPr lang="en-US" sz="1450"/>
          </a:p>
        </p:txBody>
      </p:sp>
      <p:sp>
        <p:nvSpPr>
          <p:cNvPr id="644809270" name="Text 29"/>
          <p:cNvSpPr/>
          <p:nvPr/>
        </p:nvSpPr>
        <p:spPr bwMode="auto">
          <a:xfrm>
            <a:off x="6287872" y="536752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 spc="15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PROGRAMMING</a:t>
            </a:r>
            <a:endParaRPr lang="en-US" sz="1000"/>
          </a:p>
        </p:txBody>
      </p:sp>
      <p:sp>
        <p:nvSpPr>
          <p:cNvPr id="1098954322" name="Text 30"/>
          <p:cNvSpPr/>
          <p:nvPr/>
        </p:nvSpPr>
        <p:spPr bwMode="auto"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5A7386"/>
                </a:solidFill>
                <a:latin typeface="Calibri"/>
                <a:ea typeface="Calibri"/>
                <a:cs typeface="Calibri"/>
              </a:rPr>
              <a:t>4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B12122-46A3-AA81-9FFE-70CDE43405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306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032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A327D0-1351-7090-B75F-C666308000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28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094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5">
    <p:bg>
      <p:bgPr>
        <a:solidFill>
          <a:srgbClr val="0B2E4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6427038" name="Text 0"/>
          <p:cNvSpPr/>
          <p:nvPr/>
        </p:nvSpPr>
        <p:spPr bwMode="auto"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200">
                <a:solidFill>
                  <a:srgbClr val="13C4CB"/>
                </a:solidFill>
                <a:latin typeface="Calibri"/>
                <a:ea typeface="Calibri"/>
                <a:cs typeface="Calibri"/>
              </a:rPr>
              <a:t>SYSTEM ARCHITECTURE</a:t>
            </a:r>
            <a:endParaRPr lang="en-US" sz="1300"/>
          </a:p>
        </p:txBody>
      </p:sp>
      <p:sp>
        <p:nvSpPr>
          <p:cNvPr id="1820488062" name="Text 1"/>
          <p:cNvSpPr/>
          <p:nvPr/>
        </p:nvSpPr>
        <p:spPr bwMode="auto">
          <a:xfrm>
            <a:off x="640080" y="74980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End-to-End Architecture</a:t>
            </a:r>
            <a:endParaRPr lang="en-US" sz="3200"/>
          </a:p>
        </p:txBody>
      </p:sp>
      <p:sp>
        <p:nvSpPr>
          <p:cNvPr id="518393859" name="Shape 2"/>
          <p:cNvSpPr/>
          <p:nvPr/>
        </p:nvSpPr>
        <p:spPr bwMode="auto">
          <a:xfrm>
            <a:off x="380848" y="3063240"/>
            <a:ext cx="16916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4312160" name="Shape 3"/>
          <p:cNvSpPr/>
          <p:nvPr/>
        </p:nvSpPr>
        <p:spPr bwMode="auto">
          <a:xfrm>
            <a:off x="975208" y="277063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54760501" name="Image 0" descr="/home/claude/telepulse/icons/fil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88365" y="2883789"/>
            <a:ext cx="276606" cy="276606"/>
          </a:xfrm>
          <a:prstGeom prst="rect">
            <a:avLst/>
          </a:prstGeom>
        </p:spPr>
      </p:pic>
      <p:sp>
        <p:nvSpPr>
          <p:cNvPr id="1616021357" name="Text 4"/>
          <p:cNvSpPr/>
          <p:nvPr/>
        </p:nvSpPr>
        <p:spPr bwMode="auto">
          <a:xfrm>
            <a:off x="435712" y="3063240"/>
            <a:ext cx="158191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rgbClr val="0B2E4F"/>
                </a:solidFill>
                <a:latin typeface="Calibri"/>
                <a:ea typeface="Calibri"/>
                <a:cs typeface="Calibri"/>
              </a:rPr>
              <a:t>Raw CSV Files</a:t>
            </a:r>
            <a:endParaRPr lang="en-US" sz="1250"/>
          </a:p>
        </p:txBody>
      </p:sp>
      <p:sp>
        <p:nvSpPr>
          <p:cNvPr id="1506753864" name="Shape 5"/>
          <p:cNvSpPr/>
          <p:nvPr/>
        </p:nvSpPr>
        <p:spPr bwMode="auto">
          <a:xfrm>
            <a:off x="2090776" y="3506724"/>
            <a:ext cx="219456" cy="16459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3C4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9220532" name="Shape 6"/>
          <p:cNvSpPr/>
          <p:nvPr/>
        </p:nvSpPr>
        <p:spPr bwMode="auto">
          <a:xfrm>
            <a:off x="2328520" y="3063240"/>
            <a:ext cx="16916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36661366" name="Shape 7"/>
          <p:cNvSpPr/>
          <p:nvPr/>
        </p:nvSpPr>
        <p:spPr bwMode="auto">
          <a:xfrm>
            <a:off x="2922880" y="277063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43105441" name="Image 1" descr="/home/claude/telepulse/icons/merg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036037" y="2883789"/>
            <a:ext cx="276606" cy="276606"/>
          </a:xfrm>
          <a:prstGeom prst="rect">
            <a:avLst/>
          </a:prstGeom>
        </p:spPr>
      </p:pic>
      <p:sp>
        <p:nvSpPr>
          <p:cNvPr id="1710422132" name="Text 8"/>
          <p:cNvSpPr/>
          <p:nvPr/>
        </p:nvSpPr>
        <p:spPr bwMode="auto">
          <a:xfrm>
            <a:off x="2383384" y="3063240"/>
            <a:ext cx="158191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rgbClr val="0B2E4F"/>
                </a:solidFill>
                <a:latin typeface="Calibri"/>
                <a:ea typeface="Calibri"/>
                <a:cs typeface="Calibri"/>
              </a:rPr>
              <a:t>Merge Datasets</a:t>
            </a:r>
            <a:endParaRPr lang="en-US" sz="1250"/>
          </a:p>
        </p:txBody>
      </p:sp>
      <p:sp>
        <p:nvSpPr>
          <p:cNvPr id="69206707" name="Shape 9"/>
          <p:cNvSpPr/>
          <p:nvPr/>
        </p:nvSpPr>
        <p:spPr bwMode="auto">
          <a:xfrm>
            <a:off x="4038448" y="3506724"/>
            <a:ext cx="219456" cy="16459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3C4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19591654" name="Shape 10"/>
          <p:cNvSpPr/>
          <p:nvPr/>
        </p:nvSpPr>
        <p:spPr bwMode="auto">
          <a:xfrm>
            <a:off x="4276192" y="3063240"/>
            <a:ext cx="16916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3817357" name="Shape 11"/>
          <p:cNvSpPr/>
          <p:nvPr/>
        </p:nvSpPr>
        <p:spPr bwMode="auto">
          <a:xfrm>
            <a:off x="4870552" y="277063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4256203" name="Image 2" descr="/home/claude/telepulse/icons/uploa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4983708" y="2883789"/>
            <a:ext cx="276606" cy="276606"/>
          </a:xfrm>
          <a:prstGeom prst="rect">
            <a:avLst/>
          </a:prstGeom>
        </p:spPr>
      </p:pic>
      <p:sp>
        <p:nvSpPr>
          <p:cNvPr id="1407229120" name="Text 12"/>
          <p:cNvSpPr/>
          <p:nvPr/>
        </p:nvSpPr>
        <p:spPr bwMode="auto">
          <a:xfrm>
            <a:off x="4331056" y="3063240"/>
            <a:ext cx="158191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rgbClr val="0B2E4F"/>
                </a:solidFill>
                <a:latin typeface="Calibri"/>
                <a:ea typeface="Calibri"/>
                <a:cs typeface="Calibri"/>
              </a:rPr>
              <a:t>Upload to HDFS</a:t>
            </a:r>
            <a:endParaRPr lang="en-US" sz="1250"/>
          </a:p>
        </p:txBody>
      </p:sp>
      <p:sp>
        <p:nvSpPr>
          <p:cNvPr id="1629415898" name="Shape 13"/>
          <p:cNvSpPr/>
          <p:nvPr/>
        </p:nvSpPr>
        <p:spPr bwMode="auto">
          <a:xfrm>
            <a:off x="5986120" y="3506724"/>
            <a:ext cx="219456" cy="16459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3C4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65763494" name="Shape 14"/>
          <p:cNvSpPr/>
          <p:nvPr/>
        </p:nvSpPr>
        <p:spPr bwMode="auto">
          <a:xfrm>
            <a:off x="6223864" y="3063240"/>
            <a:ext cx="16916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9873944" name="Shape 15"/>
          <p:cNvSpPr/>
          <p:nvPr/>
        </p:nvSpPr>
        <p:spPr bwMode="auto">
          <a:xfrm>
            <a:off x="6818224" y="277063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57267513" name="Image 3" descr="/home/claude/telepulse/icons/spark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6931381" y="2883789"/>
            <a:ext cx="276606" cy="276606"/>
          </a:xfrm>
          <a:prstGeom prst="rect">
            <a:avLst/>
          </a:prstGeom>
        </p:spPr>
      </p:pic>
      <p:sp>
        <p:nvSpPr>
          <p:cNvPr id="182749713" name="Text 16"/>
          <p:cNvSpPr/>
          <p:nvPr/>
        </p:nvSpPr>
        <p:spPr bwMode="auto">
          <a:xfrm>
            <a:off x="6278728" y="3063240"/>
            <a:ext cx="158191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rgbClr val="0B2E4F"/>
                </a:solidFill>
                <a:latin typeface="Calibri"/>
                <a:ea typeface="Calibri"/>
                <a:cs typeface="Calibri"/>
              </a:rPr>
              <a:t>Apache Spark</a:t>
            </a:r>
            <a:endParaRPr lang="en-US" sz="1250"/>
          </a:p>
        </p:txBody>
      </p:sp>
      <p:sp>
        <p:nvSpPr>
          <p:cNvPr id="738494585" name="Shape 17"/>
          <p:cNvSpPr/>
          <p:nvPr/>
        </p:nvSpPr>
        <p:spPr bwMode="auto">
          <a:xfrm>
            <a:off x="7933792" y="3506724"/>
            <a:ext cx="219456" cy="16459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3C4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22299419" name="Shape 18"/>
          <p:cNvSpPr/>
          <p:nvPr/>
        </p:nvSpPr>
        <p:spPr bwMode="auto">
          <a:xfrm>
            <a:off x="8171536" y="3063240"/>
            <a:ext cx="16916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3244008" name="Shape 19"/>
          <p:cNvSpPr/>
          <p:nvPr/>
        </p:nvSpPr>
        <p:spPr bwMode="auto">
          <a:xfrm>
            <a:off x="8765896" y="277063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1815756" name="Image 4" descr="/home/claude/telepulse/icons/hive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8879053" y="2883789"/>
            <a:ext cx="276606" cy="276606"/>
          </a:xfrm>
          <a:prstGeom prst="rect">
            <a:avLst/>
          </a:prstGeom>
        </p:spPr>
      </p:pic>
      <p:sp>
        <p:nvSpPr>
          <p:cNvPr id="997980182" name="Text 20"/>
          <p:cNvSpPr/>
          <p:nvPr/>
        </p:nvSpPr>
        <p:spPr bwMode="auto">
          <a:xfrm>
            <a:off x="8226400" y="3063240"/>
            <a:ext cx="158191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rgbClr val="0B2E4F"/>
                </a:solidFill>
                <a:latin typeface="Calibri"/>
                <a:ea typeface="Calibri"/>
                <a:cs typeface="Calibri"/>
              </a:rPr>
              <a:t>Hive Warehouse</a:t>
            </a:r>
            <a:endParaRPr lang="en-US" sz="1250"/>
          </a:p>
        </p:txBody>
      </p:sp>
      <p:sp>
        <p:nvSpPr>
          <p:cNvPr id="1140809495" name="Shape 21"/>
          <p:cNvSpPr/>
          <p:nvPr/>
        </p:nvSpPr>
        <p:spPr bwMode="auto">
          <a:xfrm>
            <a:off x="9881464" y="3506724"/>
            <a:ext cx="219456" cy="16459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3C4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65137514" name="Shape 22"/>
          <p:cNvSpPr/>
          <p:nvPr/>
        </p:nvSpPr>
        <p:spPr bwMode="auto">
          <a:xfrm>
            <a:off x="10119208" y="3063240"/>
            <a:ext cx="16916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4463844" name="Shape 23"/>
          <p:cNvSpPr/>
          <p:nvPr/>
        </p:nvSpPr>
        <p:spPr bwMode="auto">
          <a:xfrm>
            <a:off x="10713568" y="277063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89405841" name="Image 5" descr="/home/claude/telepulse/icons/powerbi.png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10826725" y="2883789"/>
            <a:ext cx="276606" cy="276606"/>
          </a:xfrm>
          <a:prstGeom prst="rect">
            <a:avLst/>
          </a:prstGeom>
        </p:spPr>
      </p:pic>
      <p:sp>
        <p:nvSpPr>
          <p:cNvPr id="798991972" name="Text 24"/>
          <p:cNvSpPr/>
          <p:nvPr/>
        </p:nvSpPr>
        <p:spPr bwMode="auto">
          <a:xfrm>
            <a:off x="10174072" y="3063240"/>
            <a:ext cx="158191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rgbClr val="0B2E4F"/>
                </a:solidFill>
                <a:latin typeface="Calibri"/>
                <a:ea typeface="Calibri"/>
                <a:cs typeface="Calibri"/>
              </a:rPr>
              <a:t>Power BI Dashboard</a:t>
            </a:r>
            <a:endParaRPr lang="en-US" sz="1250"/>
          </a:p>
        </p:txBody>
      </p:sp>
      <p:sp>
        <p:nvSpPr>
          <p:cNvPr id="110577439" name="Text 25"/>
          <p:cNvSpPr/>
          <p:nvPr/>
        </p:nvSpPr>
        <p:spPr bwMode="auto">
          <a:xfrm>
            <a:off x="1097280" y="466344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50">
                <a:solidFill>
                  <a:srgbClr val="EAF3F8"/>
                </a:solidFill>
                <a:latin typeface="Calibri"/>
                <a:ea typeface="Calibri"/>
                <a:cs typeface="Calibri"/>
              </a:rPr>
              <a:t>Data flows sequentially from raw ingestion through distributed processing to business-ready visualization.</a:t>
            </a:r>
            <a:endParaRPr lang="en-US" sz="1350"/>
          </a:p>
        </p:txBody>
      </p:sp>
      <p:sp>
        <p:nvSpPr>
          <p:cNvPr id="2049133660" name="Text 26"/>
          <p:cNvSpPr/>
          <p:nvPr/>
        </p:nvSpPr>
        <p:spPr bwMode="auto"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6FA8C4"/>
                </a:solidFill>
                <a:latin typeface="Calibri"/>
                <a:ea typeface="Calibri"/>
                <a:cs typeface="Calibri"/>
              </a:rPr>
              <a:t>5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5736183" name="Text 0"/>
          <p:cNvSpPr/>
          <p:nvPr/>
        </p:nvSpPr>
        <p:spPr bwMode="auto"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DATA PROCESSING PIPELINE</a:t>
            </a:r>
            <a:endParaRPr lang="en-US" sz="1300"/>
          </a:p>
        </p:txBody>
      </p:sp>
      <p:sp>
        <p:nvSpPr>
          <p:cNvPr id="1066435460" name="Text 1"/>
          <p:cNvSpPr/>
          <p:nvPr/>
        </p:nvSpPr>
        <p:spPr bwMode="auto">
          <a:xfrm>
            <a:off x="640080" y="74980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0B2E4F"/>
                </a:solidFill>
                <a:latin typeface="Cambria"/>
                <a:ea typeface="Cambria"/>
                <a:cs typeface="Cambria"/>
              </a:rPr>
              <a:t>ETL Workflow</a:t>
            </a:r>
            <a:endParaRPr lang="en-US" sz="3200"/>
          </a:p>
        </p:txBody>
      </p:sp>
      <p:sp>
        <p:nvSpPr>
          <p:cNvPr id="2011770070" name="Shape 2"/>
          <p:cNvSpPr/>
          <p:nvPr/>
        </p:nvSpPr>
        <p:spPr bwMode="auto">
          <a:xfrm>
            <a:off x="586588" y="182880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31415580" name="Text 3"/>
          <p:cNvSpPr/>
          <p:nvPr/>
        </p:nvSpPr>
        <p:spPr bwMode="auto">
          <a:xfrm>
            <a:off x="769468" y="1938528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01</a:t>
            </a:r>
            <a:endParaRPr lang="en-US" sz="2600"/>
          </a:p>
        </p:txBody>
      </p:sp>
      <p:sp>
        <p:nvSpPr>
          <p:cNvPr id="731302198" name="Shape 4"/>
          <p:cNvSpPr/>
          <p:nvPr/>
        </p:nvSpPr>
        <p:spPr bwMode="auto">
          <a:xfrm>
            <a:off x="3421228" y="2011680"/>
            <a:ext cx="457200" cy="457200"/>
          </a:xfrm>
          <a:prstGeom prst="ellipse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87546371" name="Image 0" descr="/home/claude/telepulse/icons/mer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524098" y="2114550"/>
            <a:ext cx="251460" cy="251460"/>
          </a:xfrm>
          <a:prstGeom prst="rect">
            <a:avLst/>
          </a:prstGeom>
        </p:spPr>
      </p:pic>
      <p:sp>
        <p:nvSpPr>
          <p:cNvPr id="141420482" name="Text 5"/>
          <p:cNvSpPr/>
          <p:nvPr/>
        </p:nvSpPr>
        <p:spPr bwMode="auto">
          <a:xfrm>
            <a:off x="769468" y="274320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450" b="1">
                <a:solidFill>
                  <a:srgbClr val="13293D"/>
                </a:solidFill>
                <a:latin typeface="Calibri"/>
                <a:ea typeface="Calibri"/>
                <a:cs typeface="Calibri"/>
              </a:rPr>
              <a:t>Merge daily datasets</a:t>
            </a:r>
            <a:endParaRPr lang="en-US" sz="1450"/>
          </a:p>
        </p:txBody>
      </p:sp>
      <p:sp>
        <p:nvSpPr>
          <p:cNvPr id="1882260008" name="Shape 6"/>
          <p:cNvSpPr/>
          <p:nvPr/>
        </p:nvSpPr>
        <p:spPr bwMode="auto">
          <a:xfrm>
            <a:off x="4335628" y="182880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18614711" name="Text 7"/>
          <p:cNvSpPr/>
          <p:nvPr/>
        </p:nvSpPr>
        <p:spPr bwMode="auto">
          <a:xfrm>
            <a:off x="4518508" y="1938528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02</a:t>
            </a:r>
            <a:endParaRPr lang="en-US" sz="2600"/>
          </a:p>
        </p:txBody>
      </p:sp>
      <p:sp>
        <p:nvSpPr>
          <p:cNvPr id="1069699104" name="Shape 8"/>
          <p:cNvSpPr/>
          <p:nvPr/>
        </p:nvSpPr>
        <p:spPr bwMode="auto">
          <a:xfrm>
            <a:off x="7170268" y="2011680"/>
            <a:ext cx="457200" cy="457200"/>
          </a:xfrm>
          <a:prstGeom prst="ellipse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0896665" name="Image 1" descr="/home/claude/telepulse/icons/uploa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273138" y="2114550"/>
            <a:ext cx="251460" cy="251460"/>
          </a:xfrm>
          <a:prstGeom prst="rect">
            <a:avLst/>
          </a:prstGeom>
        </p:spPr>
      </p:pic>
      <p:sp>
        <p:nvSpPr>
          <p:cNvPr id="897673806" name="Text 9"/>
          <p:cNvSpPr/>
          <p:nvPr/>
        </p:nvSpPr>
        <p:spPr bwMode="auto">
          <a:xfrm>
            <a:off x="4518508" y="274320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450" b="1">
                <a:solidFill>
                  <a:srgbClr val="13293D"/>
                </a:solidFill>
                <a:latin typeface="Calibri"/>
                <a:ea typeface="Calibri"/>
                <a:cs typeface="Calibri"/>
              </a:rPr>
              <a:t>Upload to HDFS</a:t>
            </a:r>
            <a:endParaRPr lang="en-US" sz="1450"/>
          </a:p>
        </p:txBody>
      </p:sp>
      <p:sp>
        <p:nvSpPr>
          <p:cNvPr id="951243400" name="Shape 10"/>
          <p:cNvSpPr/>
          <p:nvPr/>
        </p:nvSpPr>
        <p:spPr bwMode="auto">
          <a:xfrm>
            <a:off x="8084668" y="182880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6983608" name="Text 11"/>
          <p:cNvSpPr/>
          <p:nvPr/>
        </p:nvSpPr>
        <p:spPr bwMode="auto">
          <a:xfrm>
            <a:off x="8267548" y="1938528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03</a:t>
            </a:r>
            <a:endParaRPr lang="en-US" sz="2600"/>
          </a:p>
        </p:txBody>
      </p:sp>
      <p:sp>
        <p:nvSpPr>
          <p:cNvPr id="1788995962" name="Shape 12"/>
          <p:cNvSpPr/>
          <p:nvPr/>
        </p:nvSpPr>
        <p:spPr bwMode="auto">
          <a:xfrm>
            <a:off x="10919308" y="2011680"/>
            <a:ext cx="457200" cy="457200"/>
          </a:xfrm>
          <a:prstGeom prst="ellipse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23222714" name="Image 2" descr="/home/claude/telepulse/icons/spark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11022178" y="2114550"/>
            <a:ext cx="251460" cy="251460"/>
          </a:xfrm>
          <a:prstGeom prst="rect">
            <a:avLst/>
          </a:prstGeom>
        </p:spPr>
      </p:pic>
      <p:sp>
        <p:nvSpPr>
          <p:cNvPr id="182836240" name="Text 13"/>
          <p:cNvSpPr/>
          <p:nvPr/>
        </p:nvSpPr>
        <p:spPr bwMode="auto">
          <a:xfrm>
            <a:off x="8267548" y="274320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450" b="1">
                <a:solidFill>
                  <a:srgbClr val="13293D"/>
                </a:solidFill>
                <a:latin typeface="Calibri"/>
                <a:ea typeface="Calibri"/>
                <a:cs typeface="Calibri"/>
              </a:rPr>
              <a:t>Spark processes data</a:t>
            </a:r>
            <a:endParaRPr lang="en-US" sz="1450"/>
          </a:p>
        </p:txBody>
      </p:sp>
      <p:sp>
        <p:nvSpPr>
          <p:cNvPr id="280939341" name="Shape 14"/>
          <p:cNvSpPr/>
          <p:nvPr/>
        </p:nvSpPr>
        <p:spPr bwMode="auto">
          <a:xfrm>
            <a:off x="586588" y="388620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5382875" name="Text 15"/>
          <p:cNvSpPr/>
          <p:nvPr/>
        </p:nvSpPr>
        <p:spPr bwMode="auto">
          <a:xfrm>
            <a:off x="769468" y="3995928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04</a:t>
            </a:r>
            <a:endParaRPr lang="en-US" sz="2600"/>
          </a:p>
        </p:txBody>
      </p:sp>
      <p:sp>
        <p:nvSpPr>
          <p:cNvPr id="1605444726" name="Shape 16"/>
          <p:cNvSpPr/>
          <p:nvPr/>
        </p:nvSpPr>
        <p:spPr bwMode="auto">
          <a:xfrm>
            <a:off x="3421228" y="4069080"/>
            <a:ext cx="457200" cy="457200"/>
          </a:xfrm>
          <a:prstGeom prst="ellipse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8816874" name="Image 3" descr="/home/claude/telepulse/icons/hive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3524098" y="4171950"/>
            <a:ext cx="251460" cy="251460"/>
          </a:xfrm>
          <a:prstGeom prst="rect">
            <a:avLst/>
          </a:prstGeom>
        </p:spPr>
      </p:pic>
      <p:sp>
        <p:nvSpPr>
          <p:cNvPr id="722262432" name="Text 17"/>
          <p:cNvSpPr/>
          <p:nvPr/>
        </p:nvSpPr>
        <p:spPr bwMode="auto">
          <a:xfrm>
            <a:off x="769468" y="480060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450" b="1">
                <a:solidFill>
                  <a:srgbClr val="13293D"/>
                </a:solidFill>
                <a:latin typeface="Calibri"/>
                <a:ea typeface="Calibri"/>
                <a:cs typeface="Calibri"/>
              </a:rPr>
              <a:t>Hive stores analytics</a:t>
            </a:r>
            <a:endParaRPr lang="en-US" sz="1450"/>
          </a:p>
        </p:txBody>
      </p:sp>
      <p:sp>
        <p:nvSpPr>
          <p:cNvPr id="1680397363" name="Shape 18"/>
          <p:cNvSpPr/>
          <p:nvPr/>
        </p:nvSpPr>
        <p:spPr bwMode="auto">
          <a:xfrm>
            <a:off x="4335628" y="388620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80959" name="Text 19"/>
          <p:cNvSpPr/>
          <p:nvPr/>
        </p:nvSpPr>
        <p:spPr bwMode="auto">
          <a:xfrm>
            <a:off x="4518508" y="3995928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05</a:t>
            </a:r>
            <a:endParaRPr lang="en-US" sz="2600"/>
          </a:p>
        </p:txBody>
      </p:sp>
      <p:sp>
        <p:nvSpPr>
          <p:cNvPr id="1000843822" name="Shape 20"/>
          <p:cNvSpPr/>
          <p:nvPr/>
        </p:nvSpPr>
        <p:spPr bwMode="auto">
          <a:xfrm>
            <a:off x="7170268" y="4069080"/>
            <a:ext cx="457200" cy="457200"/>
          </a:xfrm>
          <a:prstGeom prst="ellipse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24096619" name="Image 4" descr="/home/claude/telepulse/icons/table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7273138" y="4171950"/>
            <a:ext cx="251460" cy="251460"/>
          </a:xfrm>
          <a:prstGeom prst="rect">
            <a:avLst/>
          </a:prstGeom>
        </p:spPr>
      </p:pic>
      <p:sp>
        <p:nvSpPr>
          <p:cNvPr id="1179187210" name="Text 21"/>
          <p:cNvSpPr/>
          <p:nvPr/>
        </p:nvSpPr>
        <p:spPr bwMode="auto">
          <a:xfrm>
            <a:off x="4518508" y="480060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450" b="1">
                <a:solidFill>
                  <a:srgbClr val="13293D"/>
                </a:solidFill>
                <a:latin typeface="Calibri"/>
                <a:ea typeface="Calibri"/>
                <a:cs typeface="Calibri"/>
              </a:rPr>
              <a:t>Hive creates views</a:t>
            </a:r>
            <a:endParaRPr lang="en-US" sz="1450"/>
          </a:p>
        </p:txBody>
      </p:sp>
      <p:sp>
        <p:nvSpPr>
          <p:cNvPr id="2055776017" name="Shape 22"/>
          <p:cNvSpPr/>
          <p:nvPr/>
        </p:nvSpPr>
        <p:spPr bwMode="auto">
          <a:xfrm>
            <a:off x="8084668" y="388620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5241624" name="Text 23"/>
          <p:cNvSpPr/>
          <p:nvPr/>
        </p:nvSpPr>
        <p:spPr bwMode="auto">
          <a:xfrm>
            <a:off x="8267548" y="3995928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06</a:t>
            </a:r>
            <a:endParaRPr lang="en-US" sz="2600"/>
          </a:p>
        </p:txBody>
      </p:sp>
      <p:sp>
        <p:nvSpPr>
          <p:cNvPr id="524644581" name="Shape 24"/>
          <p:cNvSpPr/>
          <p:nvPr/>
        </p:nvSpPr>
        <p:spPr bwMode="auto">
          <a:xfrm>
            <a:off x="10919308" y="4069080"/>
            <a:ext cx="457200" cy="457200"/>
          </a:xfrm>
          <a:prstGeom prst="ellipse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46102775" name="Image 5" descr="/home/claude/telepulse/icons/gauge.png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11022178" y="4171950"/>
            <a:ext cx="251460" cy="251460"/>
          </a:xfrm>
          <a:prstGeom prst="rect">
            <a:avLst/>
          </a:prstGeom>
        </p:spPr>
      </p:pic>
      <p:sp>
        <p:nvSpPr>
          <p:cNvPr id="527322677" name="Text 25"/>
          <p:cNvSpPr/>
          <p:nvPr/>
        </p:nvSpPr>
        <p:spPr bwMode="auto">
          <a:xfrm>
            <a:off x="8267548" y="480060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450" b="1">
                <a:solidFill>
                  <a:srgbClr val="13293D"/>
                </a:solidFill>
                <a:latin typeface="Calibri"/>
                <a:ea typeface="Calibri"/>
                <a:cs typeface="Calibri"/>
              </a:rPr>
              <a:t>Dashboard visualizes results</a:t>
            </a:r>
            <a:endParaRPr lang="en-US" sz="1450"/>
          </a:p>
        </p:txBody>
      </p:sp>
      <p:sp>
        <p:nvSpPr>
          <p:cNvPr id="2069251262" name="Text 26"/>
          <p:cNvSpPr/>
          <p:nvPr/>
        </p:nvSpPr>
        <p:spPr bwMode="auto"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5A7386"/>
                </a:solidFill>
                <a:latin typeface="Calibri"/>
                <a:ea typeface="Calibri"/>
                <a:cs typeface="Calibri"/>
              </a:rPr>
              <a:t>6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2687786" name="Text 0"/>
          <p:cNvSpPr/>
          <p:nvPr/>
        </p:nvSpPr>
        <p:spPr bwMode="auto"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SPARK ANALYTICS</a:t>
            </a:r>
            <a:endParaRPr lang="en-US" sz="1300"/>
          </a:p>
        </p:txBody>
      </p:sp>
      <p:sp>
        <p:nvSpPr>
          <p:cNvPr id="156357960" name="Text 1"/>
          <p:cNvSpPr/>
          <p:nvPr/>
        </p:nvSpPr>
        <p:spPr bwMode="auto">
          <a:xfrm>
            <a:off x="640080" y="74980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0B2E4F"/>
                </a:solidFill>
                <a:latin typeface="Cambria"/>
                <a:ea typeface="Cambria"/>
                <a:cs typeface="Cambria"/>
              </a:rPr>
              <a:t>Analytics Generated</a:t>
            </a:r>
            <a:endParaRPr lang="en-US" sz="3200"/>
          </a:p>
        </p:txBody>
      </p:sp>
      <p:sp>
        <p:nvSpPr>
          <p:cNvPr id="968370905" name="Shape 2"/>
          <p:cNvSpPr/>
          <p:nvPr/>
        </p:nvSpPr>
        <p:spPr bwMode="auto">
          <a:xfrm>
            <a:off x="586588" y="1901258"/>
            <a:ext cx="3520440" cy="4023360"/>
          </a:xfrm>
          <a:prstGeom prst="roundRect">
            <a:avLst>
              <a:gd name="adj" fmla="val 3636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80744133" name="Shape 3"/>
          <p:cNvSpPr/>
          <p:nvPr/>
        </p:nvSpPr>
        <p:spPr bwMode="auto">
          <a:xfrm>
            <a:off x="1912468" y="219456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15899466" name="Image 0" descr="/home/claude/telepulse/icons/city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106778" y="2388870"/>
            <a:ext cx="388620" cy="388620"/>
          </a:xfrm>
          <a:prstGeom prst="rect">
            <a:avLst/>
          </a:prstGeom>
        </p:spPr>
      </p:pic>
      <p:sp>
        <p:nvSpPr>
          <p:cNvPr id="96020352" name="Text 4"/>
          <p:cNvSpPr/>
          <p:nvPr/>
        </p:nvSpPr>
        <p:spPr bwMode="auto">
          <a:xfrm>
            <a:off x="769468" y="32004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0B2E4F"/>
                </a:solidFill>
                <a:latin typeface="Cambria"/>
                <a:ea typeface="Cambria"/>
                <a:cs typeface="Cambria"/>
              </a:rPr>
              <a:t>Urban Vitality</a:t>
            </a:r>
            <a:endParaRPr lang="en-US" sz="1800"/>
          </a:p>
        </p:txBody>
      </p:sp>
      <p:sp>
        <p:nvSpPr>
          <p:cNvPr id="1723930332" name="Text 5"/>
          <p:cNvSpPr/>
          <p:nvPr/>
        </p:nvSpPr>
        <p:spPr bwMode="auto">
          <a:xfrm>
            <a:off x="708660" y="3589020"/>
            <a:ext cx="3466948" cy="190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  <a:defRPr/>
            </a:pPr>
            <a:endParaRPr lang="ar-EG" sz="1350" dirty="0">
              <a:solidFill>
                <a:schemeClr val="tx2"/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en-US" sz="1400" dirty="0">
                <a:solidFill>
                  <a:schemeClr val="tx2"/>
                </a:solidFill>
              </a:rPr>
              <a:t>Aggregates SMS, Calls, and Internet traffic per Square ID. </a:t>
            </a:r>
          </a:p>
          <a:p>
            <a:pPr algn="ctr"/>
            <a:r>
              <a:rPr lang="en-US" sz="1400" dirty="0">
                <a:solidFill>
                  <a:schemeClr val="tx2"/>
                </a:solidFill>
              </a:rPr>
              <a:t>Computes the Urban Vitality Index. </a:t>
            </a:r>
          </a:p>
          <a:p>
            <a:pPr marL="0" indent="0" algn="ctr">
              <a:lnSpc>
                <a:spcPct val="130000"/>
              </a:lnSpc>
              <a:buNone/>
              <a:defRPr/>
            </a:pPr>
            <a:endParaRPr lang="en-US" sz="1350" dirty="0"/>
          </a:p>
        </p:txBody>
      </p:sp>
      <p:sp>
        <p:nvSpPr>
          <p:cNvPr id="173606699" name="Shape 6"/>
          <p:cNvSpPr/>
          <p:nvPr/>
        </p:nvSpPr>
        <p:spPr bwMode="auto">
          <a:xfrm>
            <a:off x="4335628" y="1664208"/>
            <a:ext cx="3520440" cy="4187952"/>
          </a:xfrm>
          <a:prstGeom prst="roundRect">
            <a:avLst>
              <a:gd name="adj" fmla="val 3636"/>
            </a:avLst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2304523" name="Shape 7"/>
          <p:cNvSpPr/>
          <p:nvPr/>
        </p:nvSpPr>
        <p:spPr bwMode="auto">
          <a:xfrm>
            <a:off x="5707228" y="2029968"/>
            <a:ext cx="777240" cy="777240"/>
          </a:xfrm>
          <a:prstGeom prst="ellipse">
            <a:avLst/>
          </a:prstGeom>
          <a:solidFill>
            <a:srgbClr val="13C4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74949602" name="Image 1" descr="/home/claude/telepulse/icons/buildingCols_whit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901538" y="2224278"/>
            <a:ext cx="388620" cy="388620"/>
          </a:xfrm>
          <a:prstGeom prst="rect">
            <a:avLst/>
          </a:prstGeom>
        </p:spPr>
      </p:pic>
      <p:sp>
        <p:nvSpPr>
          <p:cNvPr id="730366884" name="Text 8"/>
          <p:cNvSpPr/>
          <p:nvPr/>
        </p:nvSpPr>
        <p:spPr bwMode="auto">
          <a:xfrm>
            <a:off x="4564228" y="3035808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Land Use Classification</a:t>
            </a:r>
            <a:endParaRPr lang="en-US" sz="1800"/>
          </a:p>
        </p:txBody>
      </p:sp>
      <p:sp>
        <p:nvSpPr>
          <p:cNvPr id="1335035006" name="Text 9"/>
          <p:cNvSpPr/>
          <p:nvPr/>
        </p:nvSpPr>
        <p:spPr bwMode="auto">
          <a:xfrm>
            <a:off x="4655668" y="3901363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  <a:defRPr/>
            </a:pPr>
            <a:endParaRPr lang="ar-EG" sz="135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lnSpc>
                <a:spcPct val="130000"/>
              </a:lnSpc>
              <a:buNone/>
              <a:defRPr/>
            </a:pPr>
            <a:endParaRPr lang="ar-EG" sz="135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Analyzes activity during business and residential hours. 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Classifies each area as Business or Residential. </a:t>
            </a:r>
          </a:p>
          <a:p>
            <a:pPr marL="0" indent="0" algn="ctr">
              <a:lnSpc>
                <a:spcPct val="130000"/>
              </a:lnSpc>
              <a:buNone/>
              <a:defRPr/>
            </a:pPr>
            <a:endParaRPr lang="en-US" sz="1350" dirty="0"/>
          </a:p>
        </p:txBody>
      </p:sp>
      <p:sp>
        <p:nvSpPr>
          <p:cNvPr id="48434086" name="Shape 10"/>
          <p:cNvSpPr/>
          <p:nvPr/>
        </p:nvSpPr>
        <p:spPr bwMode="auto">
          <a:xfrm>
            <a:off x="8130388" y="1828800"/>
            <a:ext cx="3520440" cy="4023360"/>
          </a:xfrm>
          <a:prstGeom prst="roundRect">
            <a:avLst>
              <a:gd name="adj" fmla="val 3636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5003877" name="Shape 11"/>
          <p:cNvSpPr/>
          <p:nvPr/>
        </p:nvSpPr>
        <p:spPr bwMode="auto">
          <a:xfrm>
            <a:off x="9501988" y="219456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68597944" name="Image 2" descr="/home/claude/telepulse/icons/diagramProject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9696298" y="2388870"/>
            <a:ext cx="388620" cy="388620"/>
          </a:xfrm>
          <a:prstGeom prst="rect">
            <a:avLst/>
          </a:prstGeom>
        </p:spPr>
      </p:pic>
      <p:sp>
        <p:nvSpPr>
          <p:cNvPr id="335989563" name="Text 12"/>
          <p:cNvSpPr/>
          <p:nvPr/>
        </p:nvSpPr>
        <p:spPr bwMode="auto">
          <a:xfrm>
            <a:off x="8358988" y="32004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0B2E4F"/>
                </a:solidFill>
                <a:latin typeface="Cambria"/>
                <a:ea typeface="Cambria"/>
                <a:cs typeface="Cambria"/>
              </a:rPr>
              <a:t>Spatial Diversity</a:t>
            </a:r>
            <a:endParaRPr lang="en-US" sz="1800"/>
          </a:p>
        </p:txBody>
      </p:sp>
      <p:sp>
        <p:nvSpPr>
          <p:cNvPr id="342866917" name="Text 13"/>
          <p:cNvSpPr/>
          <p:nvPr/>
        </p:nvSpPr>
        <p:spPr bwMode="auto">
          <a:xfrm>
            <a:off x="8450428" y="3912938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chemeClr val="tx2"/>
                </a:solidFill>
              </a:rPr>
              <a:t>Computes Shannon Entropy. </a:t>
            </a:r>
          </a:p>
          <a:p>
            <a:pPr algn="ctr"/>
            <a:r>
              <a:rPr lang="en-US" sz="1400" dirty="0">
                <a:solidFill>
                  <a:schemeClr val="tx2"/>
                </a:solidFill>
              </a:rPr>
              <a:t>Measures communication diversity between areas. </a:t>
            </a:r>
          </a:p>
        </p:txBody>
      </p:sp>
      <p:sp>
        <p:nvSpPr>
          <p:cNvPr id="888413769" name="Text 14"/>
          <p:cNvSpPr/>
          <p:nvPr/>
        </p:nvSpPr>
        <p:spPr bwMode="auto"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5A7386"/>
                </a:solidFill>
                <a:latin typeface="Calibri"/>
                <a:ea typeface="Calibri"/>
                <a:cs typeface="Calibri"/>
              </a:rPr>
              <a:t>7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0723813" name="Text 0"/>
          <p:cNvSpPr/>
          <p:nvPr/>
        </p:nvSpPr>
        <p:spPr bwMode="auto"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HIVE DATA WAREHOUSE</a:t>
            </a:r>
            <a:endParaRPr lang="en-US" sz="1300"/>
          </a:p>
        </p:txBody>
      </p:sp>
      <p:sp>
        <p:nvSpPr>
          <p:cNvPr id="1557198964" name="Text 1"/>
          <p:cNvSpPr/>
          <p:nvPr/>
        </p:nvSpPr>
        <p:spPr bwMode="auto">
          <a:xfrm>
            <a:off x="640080" y="74980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0B2E4F"/>
                </a:solidFill>
                <a:latin typeface="Cambria"/>
                <a:ea typeface="Cambria"/>
                <a:cs typeface="Cambria"/>
              </a:rPr>
              <a:t>Warehouse Design</a:t>
            </a:r>
            <a:endParaRPr lang="en-US" sz="3200"/>
          </a:p>
        </p:txBody>
      </p:sp>
      <p:sp>
        <p:nvSpPr>
          <p:cNvPr id="376916801" name="Shape 2"/>
          <p:cNvSpPr/>
          <p:nvPr/>
        </p:nvSpPr>
        <p:spPr bwMode="auto">
          <a:xfrm>
            <a:off x="640080" y="1691640"/>
            <a:ext cx="5120640" cy="4572000"/>
          </a:xfrm>
          <a:prstGeom prst="roundRect">
            <a:avLst>
              <a:gd name="adj" fmla="val 2400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48057474" name="Shape 3"/>
          <p:cNvSpPr/>
          <p:nvPr/>
        </p:nvSpPr>
        <p:spPr bwMode="auto">
          <a:xfrm>
            <a:off x="914400" y="1965960"/>
            <a:ext cx="502920" cy="502920"/>
          </a:xfrm>
          <a:prstGeom prst="ellipse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1100088" name="Image 0" descr="/home/claude/telepulse/icons/spark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27557" y="2079117"/>
            <a:ext cx="276606" cy="276606"/>
          </a:xfrm>
          <a:prstGeom prst="rect">
            <a:avLst/>
          </a:prstGeom>
        </p:spPr>
      </p:pic>
      <p:sp>
        <p:nvSpPr>
          <p:cNvPr id="326622452" name="Text 4"/>
          <p:cNvSpPr/>
          <p:nvPr/>
        </p:nvSpPr>
        <p:spPr bwMode="auto">
          <a:xfrm>
            <a:off x="1554480" y="19659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900" b="1">
                <a:solidFill>
                  <a:srgbClr val="0B2E4F"/>
                </a:solidFill>
                <a:latin typeface="Cambria"/>
                <a:ea typeface="Cambria"/>
                <a:cs typeface="Cambria"/>
              </a:rPr>
              <a:t>Spark Tables</a:t>
            </a:r>
            <a:endParaRPr lang="en-US" sz="1900"/>
          </a:p>
        </p:txBody>
      </p:sp>
      <p:sp>
        <p:nvSpPr>
          <p:cNvPr id="497934253" name="Shape 5"/>
          <p:cNvSpPr/>
          <p:nvPr/>
        </p:nvSpPr>
        <p:spPr bwMode="auto">
          <a:xfrm>
            <a:off x="914400" y="2743200"/>
            <a:ext cx="44805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8997594" name="Shape 6"/>
          <p:cNvSpPr/>
          <p:nvPr/>
        </p:nvSpPr>
        <p:spPr bwMode="auto">
          <a:xfrm>
            <a:off x="1097280" y="2916936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3065609" name="Text 7"/>
          <p:cNvSpPr/>
          <p:nvPr/>
        </p:nvSpPr>
        <p:spPr bwMode="auto">
          <a:xfrm>
            <a:off x="1325880" y="27432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50">
                <a:solidFill>
                  <a:srgbClr val="13293D"/>
                </a:solidFill>
                <a:latin typeface="Courier New"/>
                <a:ea typeface="Courier New"/>
                <a:cs typeface="Courier New"/>
              </a:rPr>
              <a:t>urban_vitality</a:t>
            </a:r>
            <a:endParaRPr lang="en-US" sz="1350"/>
          </a:p>
        </p:txBody>
      </p:sp>
      <p:sp>
        <p:nvSpPr>
          <p:cNvPr id="1496669742" name="Shape 8"/>
          <p:cNvSpPr/>
          <p:nvPr/>
        </p:nvSpPr>
        <p:spPr bwMode="auto">
          <a:xfrm>
            <a:off x="914400" y="3337560"/>
            <a:ext cx="44805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9564945" name="Shape 9"/>
          <p:cNvSpPr/>
          <p:nvPr/>
        </p:nvSpPr>
        <p:spPr bwMode="auto">
          <a:xfrm>
            <a:off x="1097280" y="3511296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9666145" name="Text 10"/>
          <p:cNvSpPr/>
          <p:nvPr/>
        </p:nvSpPr>
        <p:spPr bwMode="auto">
          <a:xfrm>
            <a:off x="1325880" y="3337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50">
                <a:solidFill>
                  <a:srgbClr val="13293D"/>
                </a:solidFill>
                <a:latin typeface="Courier New"/>
                <a:ea typeface="Courier New"/>
                <a:cs typeface="Courier New"/>
              </a:rPr>
              <a:t>land_use_classification</a:t>
            </a:r>
            <a:endParaRPr lang="en-US" sz="1350"/>
          </a:p>
        </p:txBody>
      </p:sp>
      <p:sp>
        <p:nvSpPr>
          <p:cNvPr id="1434815592" name="Shape 11"/>
          <p:cNvSpPr/>
          <p:nvPr/>
        </p:nvSpPr>
        <p:spPr bwMode="auto">
          <a:xfrm>
            <a:off x="914400" y="3931920"/>
            <a:ext cx="44805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19109295" name="Shape 12"/>
          <p:cNvSpPr/>
          <p:nvPr/>
        </p:nvSpPr>
        <p:spPr bwMode="auto">
          <a:xfrm>
            <a:off x="1097280" y="4105656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44242603" name="Text 13"/>
          <p:cNvSpPr/>
          <p:nvPr/>
        </p:nvSpPr>
        <p:spPr bwMode="auto">
          <a:xfrm>
            <a:off x="1325880" y="39319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50">
                <a:solidFill>
                  <a:srgbClr val="13293D"/>
                </a:solidFill>
                <a:latin typeface="Courier New"/>
                <a:ea typeface="Courier New"/>
                <a:cs typeface="Courier New"/>
              </a:rPr>
              <a:t>spatial_diversity</a:t>
            </a:r>
            <a:endParaRPr lang="en-US" sz="1350"/>
          </a:p>
        </p:txBody>
      </p:sp>
      <p:sp>
        <p:nvSpPr>
          <p:cNvPr id="1581226423" name="Shape 14"/>
          <p:cNvSpPr/>
          <p:nvPr/>
        </p:nvSpPr>
        <p:spPr bwMode="auto">
          <a:xfrm>
            <a:off x="5989320" y="1691640"/>
            <a:ext cx="5577840" cy="4572000"/>
          </a:xfrm>
          <a:prstGeom prst="roundRect">
            <a:avLst>
              <a:gd name="adj" fmla="val 2400"/>
            </a:avLst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367014" name="Shape 15"/>
          <p:cNvSpPr/>
          <p:nvPr/>
        </p:nvSpPr>
        <p:spPr bwMode="auto">
          <a:xfrm>
            <a:off x="6263640" y="19659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26865001" name="Image 1" descr="/home/claude/telepulse/icons/hive_whit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376797" y="2079117"/>
            <a:ext cx="276606" cy="276606"/>
          </a:xfrm>
          <a:prstGeom prst="rect">
            <a:avLst/>
          </a:prstGeom>
        </p:spPr>
      </p:pic>
      <p:sp>
        <p:nvSpPr>
          <p:cNvPr id="1111534514" name="Text 16"/>
          <p:cNvSpPr/>
          <p:nvPr/>
        </p:nvSpPr>
        <p:spPr bwMode="auto">
          <a:xfrm>
            <a:off x="6903720" y="19659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9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Hive Views</a:t>
            </a:r>
            <a:endParaRPr lang="en-US" sz="1900"/>
          </a:p>
        </p:txBody>
      </p:sp>
      <p:sp>
        <p:nvSpPr>
          <p:cNvPr id="117546619" name="Shape 17"/>
          <p:cNvSpPr/>
          <p:nvPr/>
        </p:nvSpPr>
        <p:spPr bwMode="auto">
          <a:xfrm>
            <a:off x="6263640" y="2916936"/>
            <a:ext cx="91440" cy="91440"/>
          </a:xfrm>
          <a:prstGeom prst="ellipse">
            <a:avLst/>
          </a:prstGeom>
          <a:solidFill>
            <a:srgbClr val="13C4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33539315" name="Text 18"/>
          <p:cNvSpPr/>
          <p:nvPr/>
        </p:nvSpPr>
        <p:spPr bwMode="auto">
          <a:xfrm>
            <a:off x="6464808" y="27432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Dashboard View</a:t>
            </a:r>
            <a:endParaRPr lang="en-US" sz="1250"/>
          </a:p>
        </p:txBody>
      </p:sp>
      <p:sp>
        <p:nvSpPr>
          <p:cNvPr id="1124546836" name="Shape 19"/>
          <p:cNvSpPr/>
          <p:nvPr/>
        </p:nvSpPr>
        <p:spPr bwMode="auto">
          <a:xfrm>
            <a:off x="8961120" y="2916936"/>
            <a:ext cx="91440" cy="91440"/>
          </a:xfrm>
          <a:prstGeom prst="ellipse">
            <a:avLst/>
          </a:prstGeom>
          <a:solidFill>
            <a:srgbClr val="13C4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5799539" name="Text 20"/>
          <p:cNvSpPr/>
          <p:nvPr/>
        </p:nvSpPr>
        <p:spPr bwMode="auto">
          <a:xfrm>
            <a:off x="9162288" y="27432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KPI Summary</a:t>
            </a:r>
            <a:endParaRPr lang="en-US" sz="1250"/>
          </a:p>
        </p:txBody>
      </p:sp>
      <p:sp>
        <p:nvSpPr>
          <p:cNvPr id="377107475" name="Shape 21"/>
          <p:cNvSpPr/>
          <p:nvPr/>
        </p:nvSpPr>
        <p:spPr bwMode="auto">
          <a:xfrm>
            <a:off x="6263640" y="3419856"/>
            <a:ext cx="91440" cy="91440"/>
          </a:xfrm>
          <a:prstGeom prst="ellipse">
            <a:avLst/>
          </a:prstGeom>
          <a:solidFill>
            <a:srgbClr val="13C4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2588246" name="Text 22"/>
          <p:cNvSpPr/>
          <p:nvPr/>
        </p:nvSpPr>
        <p:spPr bwMode="auto">
          <a:xfrm>
            <a:off x="6464808" y="32461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Activity Summary</a:t>
            </a:r>
            <a:endParaRPr lang="en-US" sz="1250"/>
          </a:p>
        </p:txBody>
      </p:sp>
      <p:sp>
        <p:nvSpPr>
          <p:cNvPr id="1795461067" name="Shape 23"/>
          <p:cNvSpPr/>
          <p:nvPr/>
        </p:nvSpPr>
        <p:spPr bwMode="auto">
          <a:xfrm>
            <a:off x="8961120" y="3419856"/>
            <a:ext cx="91440" cy="91440"/>
          </a:xfrm>
          <a:prstGeom prst="ellipse">
            <a:avLst/>
          </a:prstGeom>
          <a:solidFill>
            <a:srgbClr val="13C4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58330709" name="Text 24"/>
          <p:cNvSpPr/>
          <p:nvPr/>
        </p:nvSpPr>
        <p:spPr bwMode="auto">
          <a:xfrm>
            <a:off x="9162288" y="32461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Dashboard Map</a:t>
            </a:r>
            <a:endParaRPr lang="en-US" sz="1250"/>
          </a:p>
        </p:txBody>
      </p:sp>
      <p:sp>
        <p:nvSpPr>
          <p:cNvPr id="893392317" name="Shape 25"/>
          <p:cNvSpPr/>
          <p:nvPr/>
        </p:nvSpPr>
        <p:spPr bwMode="auto">
          <a:xfrm>
            <a:off x="6263640" y="3922776"/>
            <a:ext cx="91440" cy="91440"/>
          </a:xfrm>
          <a:prstGeom prst="ellipse">
            <a:avLst/>
          </a:prstGeom>
          <a:solidFill>
            <a:srgbClr val="13C4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4882152" name="Text 26"/>
          <p:cNvSpPr/>
          <p:nvPr/>
        </p:nvSpPr>
        <p:spPr bwMode="auto">
          <a:xfrm>
            <a:off x="6464808" y="37490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Internet Hotspots</a:t>
            </a:r>
            <a:endParaRPr lang="en-US" sz="1250"/>
          </a:p>
        </p:txBody>
      </p:sp>
      <p:sp>
        <p:nvSpPr>
          <p:cNvPr id="1690766606" name="Shape 27"/>
          <p:cNvSpPr/>
          <p:nvPr/>
        </p:nvSpPr>
        <p:spPr bwMode="auto">
          <a:xfrm>
            <a:off x="8961120" y="3922776"/>
            <a:ext cx="91440" cy="91440"/>
          </a:xfrm>
          <a:prstGeom prst="ellipse">
            <a:avLst/>
          </a:prstGeom>
          <a:solidFill>
            <a:srgbClr val="13C4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53242420" name="Text 28"/>
          <p:cNvSpPr/>
          <p:nvPr/>
        </p:nvSpPr>
        <p:spPr bwMode="auto">
          <a:xfrm>
            <a:off x="9162288" y="37490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SMS Hotspots</a:t>
            </a:r>
            <a:endParaRPr lang="en-US" sz="1250"/>
          </a:p>
        </p:txBody>
      </p:sp>
      <p:sp>
        <p:nvSpPr>
          <p:cNvPr id="1668554066" name="Shape 29"/>
          <p:cNvSpPr/>
          <p:nvPr/>
        </p:nvSpPr>
        <p:spPr bwMode="auto">
          <a:xfrm>
            <a:off x="6263640" y="4425696"/>
            <a:ext cx="91440" cy="91440"/>
          </a:xfrm>
          <a:prstGeom prst="ellipse">
            <a:avLst/>
          </a:prstGeom>
          <a:solidFill>
            <a:srgbClr val="13C4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8202302" name="Text 30"/>
          <p:cNvSpPr/>
          <p:nvPr/>
        </p:nvSpPr>
        <p:spPr bwMode="auto">
          <a:xfrm>
            <a:off x="6464808" y="42519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Call Hotspots</a:t>
            </a:r>
            <a:endParaRPr lang="en-US" sz="1250"/>
          </a:p>
        </p:txBody>
      </p:sp>
      <p:sp>
        <p:nvSpPr>
          <p:cNvPr id="300694310" name="Shape 31"/>
          <p:cNvSpPr/>
          <p:nvPr/>
        </p:nvSpPr>
        <p:spPr bwMode="auto">
          <a:xfrm>
            <a:off x="8961120" y="4425696"/>
            <a:ext cx="91440" cy="91440"/>
          </a:xfrm>
          <a:prstGeom prst="ellipse">
            <a:avLst/>
          </a:prstGeom>
          <a:solidFill>
            <a:srgbClr val="13C4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46433745" name="Text 32"/>
          <p:cNvSpPr/>
          <p:nvPr/>
        </p:nvSpPr>
        <p:spPr bwMode="auto">
          <a:xfrm>
            <a:off x="9162288" y="42519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Business Zones</a:t>
            </a:r>
            <a:endParaRPr lang="en-US" sz="1250"/>
          </a:p>
        </p:txBody>
      </p:sp>
      <p:sp>
        <p:nvSpPr>
          <p:cNvPr id="21776578" name="Shape 33"/>
          <p:cNvSpPr/>
          <p:nvPr/>
        </p:nvSpPr>
        <p:spPr bwMode="auto">
          <a:xfrm>
            <a:off x="6263640" y="4928616"/>
            <a:ext cx="91440" cy="91440"/>
          </a:xfrm>
          <a:prstGeom prst="ellipse">
            <a:avLst/>
          </a:prstGeom>
          <a:solidFill>
            <a:srgbClr val="13C4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2737094" name="Text 34"/>
          <p:cNvSpPr/>
          <p:nvPr/>
        </p:nvSpPr>
        <p:spPr bwMode="auto">
          <a:xfrm>
            <a:off x="6464808" y="47548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Residential Zones</a:t>
            </a:r>
            <a:endParaRPr lang="en-US" sz="1250"/>
          </a:p>
        </p:txBody>
      </p:sp>
      <p:sp>
        <p:nvSpPr>
          <p:cNvPr id="899497875" name="Text 35"/>
          <p:cNvSpPr/>
          <p:nvPr/>
        </p:nvSpPr>
        <p:spPr bwMode="auto"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5A7386"/>
                </a:solidFill>
                <a:latin typeface="Calibri"/>
                <a:ea typeface="Calibri"/>
                <a:cs typeface="Calibri"/>
              </a:rPr>
              <a:t>8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1">
    <p:bg>
      <p:bgPr>
        <a:solidFill>
          <a:srgbClr val="0B2E4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2855732" name="Text 0"/>
          <p:cNvSpPr/>
          <p:nvPr/>
        </p:nvSpPr>
        <p:spPr bwMode="auto"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200">
                <a:solidFill>
                  <a:srgbClr val="13C4CB"/>
                </a:solidFill>
                <a:latin typeface="Calibri"/>
                <a:ea typeface="Calibri"/>
                <a:cs typeface="Calibri"/>
              </a:rPr>
              <a:t>BUSINESS QUESTIONS</a:t>
            </a:r>
            <a:endParaRPr lang="en-US" sz="1300"/>
          </a:p>
        </p:txBody>
      </p:sp>
      <p:sp>
        <p:nvSpPr>
          <p:cNvPr id="1479955205" name="Text 1"/>
          <p:cNvSpPr/>
          <p:nvPr/>
        </p:nvSpPr>
        <p:spPr bwMode="auto">
          <a:xfrm>
            <a:off x="640080" y="74980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What Can TelePulse Answer?</a:t>
            </a:r>
            <a:endParaRPr lang="en-US" sz="3200"/>
          </a:p>
        </p:txBody>
      </p:sp>
      <p:sp>
        <p:nvSpPr>
          <p:cNvPr id="2074700328" name="Shape 2"/>
          <p:cNvSpPr/>
          <p:nvPr/>
        </p:nvSpPr>
        <p:spPr bwMode="auto">
          <a:xfrm>
            <a:off x="640080" y="1783080"/>
            <a:ext cx="5349240" cy="594360"/>
          </a:xfrm>
          <a:prstGeom prst="roundRect">
            <a:avLst>
              <a:gd name="adj" fmla="val 13846"/>
            </a:avLst>
          </a:prstGeom>
          <a:solidFill>
            <a:srgbClr val="081F38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33672" name="Shape 3"/>
          <p:cNvSpPr/>
          <p:nvPr/>
        </p:nvSpPr>
        <p:spPr bwMode="auto">
          <a:xfrm>
            <a:off x="749808" y="184708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06396039" name="Image 0" descr="/home/claude/telepulse/icons/question_whit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52678" y="1949958"/>
            <a:ext cx="251460" cy="251460"/>
          </a:xfrm>
          <a:prstGeom prst="rect">
            <a:avLst/>
          </a:prstGeom>
        </p:spPr>
      </p:pic>
      <p:sp>
        <p:nvSpPr>
          <p:cNvPr id="1335215454" name="Text 4"/>
          <p:cNvSpPr/>
          <p:nvPr/>
        </p:nvSpPr>
        <p:spPr bwMode="auto">
          <a:xfrm>
            <a:off x="1325880" y="1783080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Which areas are most active?</a:t>
            </a:r>
            <a:endParaRPr lang="en-US" sz="1300"/>
          </a:p>
        </p:txBody>
      </p:sp>
      <p:sp>
        <p:nvSpPr>
          <p:cNvPr id="1706358522" name="Shape 5"/>
          <p:cNvSpPr/>
          <p:nvPr/>
        </p:nvSpPr>
        <p:spPr bwMode="auto">
          <a:xfrm>
            <a:off x="640080" y="2496312"/>
            <a:ext cx="5349240" cy="594360"/>
          </a:xfrm>
          <a:prstGeom prst="roundRect">
            <a:avLst>
              <a:gd name="adj" fmla="val 13846"/>
            </a:avLst>
          </a:prstGeom>
          <a:solidFill>
            <a:srgbClr val="081F38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9547719" name="Shape 6"/>
          <p:cNvSpPr/>
          <p:nvPr/>
        </p:nvSpPr>
        <p:spPr bwMode="auto">
          <a:xfrm>
            <a:off x="749808" y="25603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52626577" name="Image 1" descr="/home/claude/telepulse/icons/question_whit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52678" y="2663190"/>
            <a:ext cx="251460" cy="251460"/>
          </a:xfrm>
          <a:prstGeom prst="rect">
            <a:avLst/>
          </a:prstGeom>
        </p:spPr>
      </p:pic>
      <p:sp>
        <p:nvSpPr>
          <p:cNvPr id="1777705372" name="Text 7"/>
          <p:cNvSpPr/>
          <p:nvPr/>
        </p:nvSpPr>
        <p:spPr bwMode="auto">
          <a:xfrm>
            <a:off x="1325880" y="2496312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Where is internet usage highest?</a:t>
            </a:r>
            <a:endParaRPr lang="en-US" sz="1300"/>
          </a:p>
        </p:txBody>
      </p:sp>
      <p:sp>
        <p:nvSpPr>
          <p:cNvPr id="910863859" name="Shape 8"/>
          <p:cNvSpPr/>
          <p:nvPr/>
        </p:nvSpPr>
        <p:spPr bwMode="auto">
          <a:xfrm>
            <a:off x="640080" y="3209544"/>
            <a:ext cx="5349240" cy="594360"/>
          </a:xfrm>
          <a:prstGeom prst="roundRect">
            <a:avLst>
              <a:gd name="adj" fmla="val 13846"/>
            </a:avLst>
          </a:prstGeom>
          <a:solidFill>
            <a:srgbClr val="081F38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2720301" name="Shape 9"/>
          <p:cNvSpPr/>
          <p:nvPr/>
        </p:nvSpPr>
        <p:spPr bwMode="auto">
          <a:xfrm>
            <a:off x="749808" y="327355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16896751" name="Image 2" descr="/home/claude/telepulse/icons/question_whit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52678" y="3376422"/>
            <a:ext cx="251460" cy="251460"/>
          </a:xfrm>
          <a:prstGeom prst="rect">
            <a:avLst/>
          </a:prstGeom>
        </p:spPr>
      </p:pic>
      <p:sp>
        <p:nvSpPr>
          <p:cNvPr id="107934493" name="Text 10"/>
          <p:cNvSpPr/>
          <p:nvPr/>
        </p:nvSpPr>
        <p:spPr bwMode="auto">
          <a:xfrm>
            <a:off x="1325880" y="3209544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Which areas are residential?</a:t>
            </a:r>
            <a:endParaRPr lang="en-US" sz="1300"/>
          </a:p>
        </p:txBody>
      </p:sp>
      <p:sp>
        <p:nvSpPr>
          <p:cNvPr id="732441771" name="Shape 11"/>
          <p:cNvSpPr/>
          <p:nvPr/>
        </p:nvSpPr>
        <p:spPr bwMode="auto">
          <a:xfrm>
            <a:off x="640080" y="3922776"/>
            <a:ext cx="5349240" cy="594360"/>
          </a:xfrm>
          <a:prstGeom prst="roundRect">
            <a:avLst>
              <a:gd name="adj" fmla="val 13846"/>
            </a:avLst>
          </a:prstGeom>
          <a:solidFill>
            <a:srgbClr val="081F38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3850407" name="Shape 12"/>
          <p:cNvSpPr/>
          <p:nvPr/>
        </p:nvSpPr>
        <p:spPr bwMode="auto">
          <a:xfrm>
            <a:off x="749808" y="398678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89207548" name="Image 3" descr="/home/claude/telepulse/icons/question_whit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52678" y="4089654"/>
            <a:ext cx="251460" cy="251460"/>
          </a:xfrm>
          <a:prstGeom prst="rect">
            <a:avLst/>
          </a:prstGeom>
        </p:spPr>
      </p:pic>
      <p:sp>
        <p:nvSpPr>
          <p:cNvPr id="1148307877" name="Text 13"/>
          <p:cNvSpPr/>
          <p:nvPr/>
        </p:nvSpPr>
        <p:spPr bwMode="auto">
          <a:xfrm>
            <a:off x="1325880" y="3922776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Which areas are business districts?</a:t>
            </a:r>
            <a:endParaRPr lang="en-US" sz="1300"/>
          </a:p>
        </p:txBody>
      </p:sp>
      <p:sp>
        <p:nvSpPr>
          <p:cNvPr id="577107330" name="Shape 14"/>
          <p:cNvSpPr/>
          <p:nvPr/>
        </p:nvSpPr>
        <p:spPr bwMode="auto">
          <a:xfrm>
            <a:off x="6263640" y="1783080"/>
            <a:ext cx="5349240" cy="594360"/>
          </a:xfrm>
          <a:prstGeom prst="roundRect">
            <a:avLst>
              <a:gd name="adj" fmla="val 13846"/>
            </a:avLst>
          </a:prstGeom>
          <a:solidFill>
            <a:srgbClr val="081F38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2833426" name="Shape 15"/>
          <p:cNvSpPr/>
          <p:nvPr/>
        </p:nvSpPr>
        <p:spPr bwMode="auto">
          <a:xfrm>
            <a:off x="6373368" y="184708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1719758" name="Image 4" descr="/home/claude/telepulse/icons/question_whit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476238" y="1949958"/>
            <a:ext cx="251460" cy="251460"/>
          </a:xfrm>
          <a:prstGeom prst="rect">
            <a:avLst/>
          </a:prstGeom>
        </p:spPr>
      </p:pic>
      <p:sp>
        <p:nvSpPr>
          <p:cNvPr id="1364948475" name="Text 16"/>
          <p:cNvSpPr/>
          <p:nvPr/>
        </p:nvSpPr>
        <p:spPr bwMode="auto">
          <a:xfrm>
            <a:off x="6949440" y="1783080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Which cells exchange the most SMS?</a:t>
            </a:r>
            <a:endParaRPr lang="en-US" sz="1300"/>
          </a:p>
        </p:txBody>
      </p:sp>
      <p:sp>
        <p:nvSpPr>
          <p:cNvPr id="2056885078" name="Shape 17"/>
          <p:cNvSpPr/>
          <p:nvPr/>
        </p:nvSpPr>
        <p:spPr bwMode="auto">
          <a:xfrm>
            <a:off x="6263640" y="2496312"/>
            <a:ext cx="5349240" cy="594360"/>
          </a:xfrm>
          <a:prstGeom prst="roundRect">
            <a:avLst>
              <a:gd name="adj" fmla="val 13846"/>
            </a:avLst>
          </a:prstGeom>
          <a:solidFill>
            <a:srgbClr val="081F38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3152754" name="Shape 18"/>
          <p:cNvSpPr/>
          <p:nvPr/>
        </p:nvSpPr>
        <p:spPr bwMode="auto">
          <a:xfrm>
            <a:off x="6373368" y="25603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95467506" name="Image 5" descr="/home/claude/telepulse/icons/question_whit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476238" y="2663190"/>
            <a:ext cx="251460" cy="251460"/>
          </a:xfrm>
          <a:prstGeom prst="rect">
            <a:avLst/>
          </a:prstGeom>
        </p:spPr>
      </p:pic>
      <p:sp>
        <p:nvSpPr>
          <p:cNvPr id="1681638276" name="Text 19"/>
          <p:cNvSpPr/>
          <p:nvPr/>
        </p:nvSpPr>
        <p:spPr bwMode="auto">
          <a:xfrm>
            <a:off x="6949440" y="2496312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Which cells generate the most calls?</a:t>
            </a:r>
            <a:endParaRPr lang="en-US" sz="1300"/>
          </a:p>
        </p:txBody>
      </p:sp>
      <p:sp>
        <p:nvSpPr>
          <p:cNvPr id="167118245" name="Shape 20"/>
          <p:cNvSpPr/>
          <p:nvPr/>
        </p:nvSpPr>
        <p:spPr bwMode="auto">
          <a:xfrm>
            <a:off x="6263640" y="3209544"/>
            <a:ext cx="5349240" cy="594360"/>
          </a:xfrm>
          <a:prstGeom prst="roundRect">
            <a:avLst>
              <a:gd name="adj" fmla="val 13846"/>
            </a:avLst>
          </a:prstGeom>
          <a:solidFill>
            <a:srgbClr val="081F38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60878038" name="Shape 21"/>
          <p:cNvSpPr/>
          <p:nvPr/>
        </p:nvSpPr>
        <p:spPr bwMode="auto">
          <a:xfrm>
            <a:off x="6373368" y="327355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13402968" name="Image 6" descr="/home/claude/telepulse/icons/question_whit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476238" y="3376422"/>
            <a:ext cx="251460" cy="251460"/>
          </a:xfrm>
          <a:prstGeom prst="rect">
            <a:avLst/>
          </a:prstGeom>
        </p:spPr>
      </p:pic>
      <p:sp>
        <p:nvSpPr>
          <p:cNvPr id="159155368" name="Text 22"/>
          <p:cNvSpPr/>
          <p:nvPr/>
        </p:nvSpPr>
        <p:spPr bwMode="auto">
          <a:xfrm>
            <a:off x="6949440" y="3209544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Which locations have the highest communication diversity?</a:t>
            </a:r>
            <a:endParaRPr lang="en-US" sz="1300"/>
          </a:p>
        </p:txBody>
      </p:sp>
      <p:sp>
        <p:nvSpPr>
          <p:cNvPr id="158408566" name="Text 23"/>
          <p:cNvSpPr/>
          <p:nvPr/>
        </p:nvSpPr>
        <p:spPr bwMode="auto"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6FA8C4"/>
                </a:solidFill>
                <a:latin typeface="Calibri"/>
                <a:ea typeface="Calibri"/>
                <a:cs typeface="Calibri"/>
              </a:rPr>
              <a:t>11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074261" name="Text 0"/>
          <p:cNvSpPr/>
          <p:nvPr/>
        </p:nvSpPr>
        <p:spPr bwMode="auto"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DASHBOARD</a:t>
            </a:r>
            <a:endParaRPr lang="en-US" sz="1300"/>
          </a:p>
        </p:txBody>
      </p:sp>
      <p:sp>
        <p:nvSpPr>
          <p:cNvPr id="522062017" name="Text 1"/>
          <p:cNvSpPr/>
          <p:nvPr/>
        </p:nvSpPr>
        <p:spPr bwMode="auto">
          <a:xfrm>
            <a:off x="640080" y="74980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0B2E4F"/>
                </a:solidFill>
                <a:latin typeface="Cambria"/>
                <a:ea typeface="Cambria"/>
                <a:cs typeface="Cambria"/>
              </a:rPr>
              <a:t>Dashboard Components</a:t>
            </a:r>
            <a:endParaRPr lang="en-US" sz="3200"/>
          </a:p>
        </p:txBody>
      </p:sp>
      <p:sp>
        <p:nvSpPr>
          <p:cNvPr id="50131601" name="Shape 2"/>
          <p:cNvSpPr/>
          <p:nvPr/>
        </p:nvSpPr>
        <p:spPr bwMode="auto">
          <a:xfrm>
            <a:off x="700888" y="178308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8319845" name="Shape 3"/>
          <p:cNvSpPr/>
          <p:nvPr/>
        </p:nvSpPr>
        <p:spPr bwMode="auto">
          <a:xfrm>
            <a:off x="1683868" y="205740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93559776" name="Image 0" descr="/home/claude/telepulse/icons/gau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817599" y="2191131"/>
            <a:ext cx="326898" cy="326898"/>
          </a:xfrm>
          <a:prstGeom prst="rect">
            <a:avLst/>
          </a:prstGeom>
        </p:spPr>
      </p:pic>
      <p:sp>
        <p:nvSpPr>
          <p:cNvPr id="140578958" name="Text 4"/>
          <p:cNvSpPr/>
          <p:nvPr/>
        </p:nvSpPr>
        <p:spPr bwMode="auto">
          <a:xfrm>
            <a:off x="792328" y="2880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350" b="1">
                <a:solidFill>
                  <a:srgbClr val="0B2E4F"/>
                </a:solidFill>
                <a:latin typeface="Calibri"/>
                <a:ea typeface="Calibri"/>
                <a:cs typeface="Calibri"/>
              </a:rPr>
              <a:t>KPI Cards</a:t>
            </a:r>
            <a:endParaRPr lang="en-US" sz="1350"/>
          </a:p>
        </p:txBody>
      </p:sp>
      <p:sp>
        <p:nvSpPr>
          <p:cNvPr id="1130078842" name="Shape 5"/>
          <p:cNvSpPr/>
          <p:nvPr/>
        </p:nvSpPr>
        <p:spPr bwMode="auto">
          <a:xfrm>
            <a:off x="3444088" y="178308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5237815" name="Shape 6"/>
          <p:cNvSpPr/>
          <p:nvPr/>
        </p:nvSpPr>
        <p:spPr bwMode="auto">
          <a:xfrm>
            <a:off x="4427068" y="205740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48058404" name="Image 1" descr="/home/claude/telepulse/icons/city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560799" y="2191131"/>
            <a:ext cx="326898" cy="326898"/>
          </a:xfrm>
          <a:prstGeom prst="rect">
            <a:avLst/>
          </a:prstGeom>
        </p:spPr>
      </p:pic>
      <p:sp>
        <p:nvSpPr>
          <p:cNvPr id="971885455" name="Text 7"/>
          <p:cNvSpPr/>
          <p:nvPr/>
        </p:nvSpPr>
        <p:spPr bwMode="auto">
          <a:xfrm>
            <a:off x="3535528" y="2880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350" b="1">
                <a:solidFill>
                  <a:srgbClr val="0B2E4F"/>
                </a:solidFill>
                <a:latin typeface="Calibri"/>
                <a:ea typeface="Calibri"/>
                <a:cs typeface="Calibri"/>
              </a:rPr>
              <a:t>Urban Vitality</a:t>
            </a:r>
            <a:endParaRPr lang="en-US" sz="1350"/>
          </a:p>
        </p:txBody>
      </p:sp>
      <p:sp>
        <p:nvSpPr>
          <p:cNvPr id="1573293057" name="Shape 8"/>
          <p:cNvSpPr/>
          <p:nvPr/>
        </p:nvSpPr>
        <p:spPr bwMode="auto">
          <a:xfrm>
            <a:off x="6187288" y="178308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080705" name="Shape 9"/>
          <p:cNvSpPr/>
          <p:nvPr/>
        </p:nvSpPr>
        <p:spPr bwMode="auto">
          <a:xfrm>
            <a:off x="7170268" y="205740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97230886" name="Image 2" descr="/home/claude/telepulse/icons/wifi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7303999" y="2191131"/>
            <a:ext cx="326898" cy="326898"/>
          </a:xfrm>
          <a:prstGeom prst="rect">
            <a:avLst/>
          </a:prstGeom>
        </p:spPr>
      </p:pic>
      <p:sp>
        <p:nvSpPr>
          <p:cNvPr id="194408283" name="Text 10"/>
          <p:cNvSpPr/>
          <p:nvPr/>
        </p:nvSpPr>
        <p:spPr bwMode="auto">
          <a:xfrm>
            <a:off x="6278728" y="2880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350" b="1">
                <a:solidFill>
                  <a:srgbClr val="0B2E4F"/>
                </a:solidFill>
                <a:latin typeface="Calibri"/>
                <a:ea typeface="Calibri"/>
                <a:cs typeface="Calibri"/>
              </a:rPr>
              <a:t>Internet Usage</a:t>
            </a:r>
            <a:endParaRPr lang="en-US" sz="1350"/>
          </a:p>
        </p:txBody>
      </p:sp>
      <p:sp>
        <p:nvSpPr>
          <p:cNvPr id="1717642287" name="Shape 11"/>
          <p:cNvSpPr/>
          <p:nvPr/>
        </p:nvSpPr>
        <p:spPr bwMode="auto">
          <a:xfrm>
            <a:off x="8930488" y="178308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3316002" name="Shape 12"/>
          <p:cNvSpPr/>
          <p:nvPr/>
        </p:nvSpPr>
        <p:spPr bwMode="auto">
          <a:xfrm>
            <a:off x="9913468" y="205740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6727320" name="Image 3" descr="/home/claude/telepulse/icons/sms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10047199" y="2191131"/>
            <a:ext cx="326898" cy="326898"/>
          </a:xfrm>
          <a:prstGeom prst="rect">
            <a:avLst/>
          </a:prstGeom>
        </p:spPr>
      </p:pic>
      <p:sp>
        <p:nvSpPr>
          <p:cNvPr id="1538154470" name="Text 13"/>
          <p:cNvSpPr/>
          <p:nvPr/>
        </p:nvSpPr>
        <p:spPr bwMode="auto">
          <a:xfrm>
            <a:off x="9021928" y="2880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350" b="1">
                <a:solidFill>
                  <a:srgbClr val="0B2E4F"/>
                </a:solidFill>
                <a:latin typeface="Calibri"/>
                <a:ea typeface="Calibri"/>
                <a:cs typeface="Calibri"/>
              </a:rPr>
              <a:t>SMS Activity</a:t>
            </a:r>
            <a:endParaRPr lang="en-US" sz="1350"/>
          </a:p>
        </p:txBody>
      </p:sp>
      <p:sp>
        <p:nvSpPr>
          <p:cNvPr id="591238831" name="Shape 14"/>
          <p:cNvSpPr/>
          <p:nvPr/>
        </p:nvSpPr>
        <p:spPr bwMode="auto">
          <a:xfrm>
            <a:off x="700888" y="3959352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1130246" name="Shape 15"/>
          <p:cNvSpPr/>
          <p:nvPr/>
        </p:nvSpPr>
        <p:spPr bwMode="auto">
          <a:xfrm>
            <a:off x="1683868" y="4233672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51650912" name="Image 4" descr="/home/claude/telepulse/icons/phone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1817599" y="4367403"/>
            <a:ext cx="326898" cy="326898"/>
          </a:xfrm>
          <a:prstGeom prst="rect">
            <a:avLst/>
          </a:prstGeom>
        </p:spPr>
      </p:pic>
      <p:sp>
        <p:nvSpPr>
          <p:cNvPr id="46365934" name="Text 16"/>
          <p:cNvSpPr/>
          <p:nvPr/>
        </p:nvSpPr>
        <p:spPr bwMode="auto">
          <a:xfrm>
            <a:off x="792328" y="505663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350" b="1">
                <a:solidFill>
                  <a:srgbClr val="0B2E4F"/>
                </a:solidFill>
                <a:latin typeface="Calibri"/>
                <a:ea typeface="Calibri"/>
                <a:cs typeface="Calibri"/>
              </a:rPr>
              <a:t>Call Activity</a:t>
            </a:r>
            <a:endParaRPr lang="en-US" sz="1350"/>
          </a:p>
        </p:txBody>
      </p:sp>
      <p:sp>
        <p:nvSpPr>
          <p:cNvPr id="1329812804" name="Shape 17"/>
          <p:cNvSpPr/>
          <p:nvPr/>
        </p:nvSpPr>
        <p:spPr bwMode="auto">
          <a:xfrm>
            <a:off x="3444088" y="3959352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4240312" name="Shape 18"/>
          <p:cNvSpPr/>
          <p:nvPr/>
        </p:nvSpPr>
        <p:spPr bwMode="auto">
          <a:xfrm>
            <a:off x="4427068" y="4233672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29645045" name="Image 5" descr="/home/claude/telepulse/icons/buildingCols.png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4560799" y="4367403"/>
            <a:ext cx="326898" cy="326898"/>
          </a:xfrm>
          <a:prstGeom prst="rect">
            <a:avLst/>
          </a:prstGeom>
        </p:spPr>
      </p:pic>
      <p:sp>
        <p:nvSpPr>
          <p:cNvPr id="1289259203" name="Text 19"/>
          <p:cNvSpPr/>
          <p:nvPr/>
        </p:nvSpPr>
        <p:spPr bwMode="auto">
          <a:xfrm>
            <a:off x="3535528" y="505663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350" b="1">
                <a:solidFill>
                  <a:srgbClr val="0B2E4F"/>
                </a:solidFill>
                <a:latin typeface="Calibri"/>
                <a:ea typeface="Calibri"/>
                <a:cs typeface="Calibri"/>
              </a:rPr>
              <a:t>Land Use</a:t>
            </a:r>
            <a:endParaRPr lang="en-US" sz="1350"/>
          </a:p>
        </p:txBody>
      </p:sp>
      <p:sp>
        <p:nvSpPr>
          <p:cNvPr id="1134562325" name="Shape 20"/>
          <p:cNvSpPr/>
          <p:nvPr/>
        </p:nvSpPr>
        <p:spPr bwMode="auto">
          <a:xfrm>
            <a:off x="6187288" y="3959352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60012351" name="Shape 21"/>
          <p:cNvSpPr/>
          <p:nvPr/>
        </p:nvSpPr>
        <p:spPr bwMode="auto">
          <a:xfrm>
            <a:off x="7170268" y="4233672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61224099" name="Image 6" descr="/home/claude/telepulse/icons/diagramProject.png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7303999" y="4367403"/>
            <a:ext cx="326898" cy="326898"/>
          </a:xfrm>
          <a:prstGeom prst="rect">
            <a:avLst/>
          </a:prstGeom>
        </p:spPr>
      </p:pic>
      <p:sp>
        <p:nvSpPr>
          <p:cNvPr id="502151296" name="Text 22"/>
          <p:cNvSpPr/>
          <p:nvPr/>
        </p:nvSpPr>
        <p:spPr bwMode="auto">
          <a:xfrm>
            <a:off x="6278728" y="505663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350" b="1">
                <a:solidFill>
                  <a:srgbClr val="0B2E4F"/>
                </a:solidFill>
                <a:latin typeface="Calibri"/>
                <a:ea typeface="Calibri"/>
                <a:cs typeface="Calibri"/>
              </a:rPr>
              <a:t>Spatial Diversity</a:t>
            </a:r>
            <a:endParaRPr lang="en-US" sz="1350"/>
          </a:p>
        </p:txBody>
      </p:sp>
      <p:sp>
        <p:nvSpPr>
          <p:cNvPr id="1960373922" name="Shape 23"/>
          <p:cNvSpPr/>
          <p:nvPr/>
        </p:nvSpPr>
        <p:spPr bwMode="auto">
          <a:xfrm>
            <a:off x="8930488" y="3959352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47025161" name="Shape 24"/>
          <p:cNvSpPr/>
          <p:nvPr/>
        </p:nvSpPr>
        <p:spPr bwMode="auto">
          <a:xfrm>
            <a:off x="9913468" y="4233672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91667594" name="Image 7" descr="/home/claude/telepulse/icons/chart.png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>
            <a:off x="10047199" y="4367403"/>
            <a:ext cx="326898" cy="326898"/>
          </a:xfrm>
          <a:prstGeom prst="rect">
            <a:avLst/>
          </a:prstGeom>
        </p:spPr>
      </p:pic>
      <p:sp>
        <p:nvSpPr>
          <p:cNvPr id="441349626" name="Text 25"/>
          <p:cNvSpPr/>
          <p:nvPr/>
        </p:nvSpPr>
        <p:spPr bwMode="auto">
          <a:xfrm>
            <a:off x="9021928" y="505663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350" b="1">
                <a:solidFill>
                  <a:srgbClr val="0B2E4F"/>
                </a:solidFill>
                <a:latin typeface="Calibri"/>
                <a:ea typeface="Calibri"/>
                <a:cs typeface="Calibri"/>
              </a:rPr>
              <a:t>Cell Ranking</a:t>
            </a:r>
            <a:endParaRPr lang="en-US" sz="1350"/>
          </a:p>
        </p:txBody>
      </p:sp>
      <p:sp>
        <p:nvSpPr>
          <p:cNvPr id="2141188439" name="Text 26"/>
          <p:cNvSpPr/>
          <p:nvPr/>
        </p:nvSpPr>
        <p:spPr bwMode="auto"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50" i="1">
                <a:solidFill>
                  <a:srgbClr val="5A7386"/>
                </a:solidFill>
                <a:latin typeface="Calibri"/>
                <a:ea typeface="Calibri"/>
                <a:cs typeface="Calibri"/>
              </a:rPr>
              <a:t>Cropped screenshots of each visual can be added to these panels.</a:t>
            </a:r>
            <a:endParaRPr lang="en-US" sz="1050"/>
          </a:p>
        </p:txBody>
      </p:sp>
      <p:sp>
        <p:nvSpPr>
          <p:cNvPr id="2020544367" name="Text 27"/>
          <p:cNvSpPr/>
          <p:nvPr/>
        </p:nvSpPr>
        <p:spPr bwMode="auto"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5A7386"/>
                </a:solidFill>
                <a:latin typeface="Calibri"/>
                <a:ea typeface="Calibri"/>
                <a:cs typeface="Calibri"/>
              </a:rPr>
              <a:t>10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3985851" name="Text 10"/>
          <p:cNvSpPr/>
          <p:nvPr/>
        </p:nvSpPr>
        <p:spPr bwMode="auto">
          <a:xfrm>
            <a:off x="640080" y="6108192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i="1">
                <a:solidFill>
                  <a:srgbClr val="13293D"/>
                </a:solidFill>
                <a:latin typeface="Calibri"/>
                <a:ea typeface="Calibri"/>
                <a:cs typeface="Calibri"/>
              </a:rPr>
              <a:t>The dashboard consumes Hive analytical views to provide interactive business insights.</a:t>
            </a:r>
            <a:endParaRPr lang="en-US" sz="1400"/>
          </a:p>
        </p:txBody>
      </p:sp>
      <p:sp>
        <p:nvSpPr>
          <p:cNvPr id="2090970177" name="Text 11"/>
          <p:cNvSpPr/>
          <p:nvPr/>
        </p:nvSpPr>
        <p:spPr bwMode="auto"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5A7386"/>
                </a:solidFill>
                <a:latin typeface="Calibri"/>
                <a:ea typeface="Calibri"/>
                <a:cs typeface="Calibri"/>
              </a:rPr>
              <a:t>9</a:t>
            </a:r>
            <a:endParaRPr lang="en-US" sz="1000"/>
          </a:p>
        </p:txBody>
      </p:sp>
      <p:pic>
        <p:nvPicPr>
          <p:cNvPr id="1050453344" name="Picture 105045334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740" y="-34017"/>
            <a:ext cx="12195401" cy="68994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1483672" name="Text 0"/>
          <p:cNvSpPr/>
          <p:nvPr/>
        </p:nvSpPr>
        <p:spPr bwMode="auto"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CHALLENGES</a:t>
            </a:r>
            <a:endParaRPr lang="en-US" sz="1300"/>
          </a:p>
        </p:txBody>
      </p:sp>
      <p:sp>
        <p:nvSpPr>
          <p:cNvPr id="1310962651" name="Text 1"/>
          <p:cNvSpPr/>
          <p:nvPr/>
        </p:nvSpPr>
        <p:spPr bwMode="auto">
          <a:xfrm>
            <a:off x="640080" y="74980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0B2E4F"/>
                </a:solidFill>
                <a:latin typeface="Cambria"/>
                <a:ea typeface="Cambria"/>
                <a:cs typeface="Cambria"/>
              </a:rPr>
              <a:t>Challenges &amp; Solution</a:t>
            </a:r>
            <a:endParaRPr lang="en-US" sz="3200"/>
          </a:p>
        </p:txBody>
      </p:sp>
      <p:sp>
        <p:nvSpPr>
          <p:cNvPr id="488280940" name="Text 2"/>
          <p:cNvSpPr/>
          <p:nvPr/>
        </p:nvSpPr>
        <p:spPr bwMode="auto">
          <a:xfrm>
            <a:off x="640080" y="1600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CHALLENGES</a:t>
            </a:r>
            <a:endParaRPr lang="en-US" sz="1200"/>
          </a:p>
        </p:txBody>
      </p:sp>
      <p:sp>
        <p:nvSpPr>
          <p:cNvPr id="450451169" name="Shape 3"/>
          <p:cNvSpPr/>
          <p:nvPr/>
        </p:nvSpPr>
        <p:spPr bwMode="auto">
          <a:xfrm>
            <a:off x="640080" y="2057400"/>
            <a:ext cx="438912" cy="438912"/>
          </a:xfrm>
          <a:prstGeom prst="ellipse">
            <a:avLst/>
          </a:prstGeom>
          <a:solidFill>
            <a:srgbClr val="B0413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11725993" name="Image 0" descr="/home/claude/telepulse/icons/triangleExclaim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38835" y="2156155"/>
            <a:ext cx="241402" cy="241402"/>
          </a:xfrm>
          <a:prstGeom prst="rect">
            <a:avLst/>
          </a:prstGeom>
        </p:spPr>
      </p:pic>
      <p:sp>
        <p:nvSpPr>
          <p:cNvPr id="322006726" name="Text 4"/>
          <p:cNvSpPr/>
          <p:nvPr/>
        </p:nvSpPr>
        <p:spPr bwMode="auto">
          <a:xfrm>
            <a:off x="1234440" y="2075688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>
                <a:solidFill>
                  <a:srgbClr val="13293D"/>
                </a:solidFill>
                <a:latin typeface="Calibri"/>
                <a:ea typeface="Calibri"/>
                <a:cs typeface="Calibri"/>
              </a:rPr>
              <a:t>Large dataset integration</a:t>
            </a:r>
            <a:endParaRPr lang="en-US" sz="1450"/>
          </a:p>
        </p:txBody>
      </p:sp>
      <p:sp>
        <p:nvSpPr>
          <p:cNvPr id="902226671" name="Shape 5"/>
          <p:cNvSpPr/>
          <p:nvPr/>
        </p:nvSpPr>
        <p:spPr bwMode="auto">
          <a:xfrm>
            <a:off x="640080" y="2679192"/>
            <a:ext cx="438912" cy="438912"/>
          </a:xfrm>
          <a:prstGeom prst="ellipse">
            <a:avLst/>
          </a:prstGeom>
          <a:solidFill>
            <a:srgbClr val="B0413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10034201" name="Image 1" descr="/home/claude/telepulse/icons/triangleExclaim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38835" y="2777947"/>
            <a:ext cx="241402" cy="241402"/>
          </a:xfrm>
          <a:prstGeom prst="rect">
            <a:avLst/>
          </a:prstGeom>
        </p:spPr>
      </p:pic>
      <p:sp>
        <p:nvSpPr>
          <p:cNvPr id="503249680" name="Text 6"/>
          <p:cNvSpPr/>
          <p:nvPr/>
        </p:nvSpPr>
        <p:spPr bwMode="auto">
          <a:xfrm>
            <a:off x="1234440" y="269748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>
                <a:solidFill>
                  <a:srgbClr val="13293D"/>
                </a:solidFill>
                <a:latin typeface="Calibri"/>
                <a:ea typeface="Calibri"/>
                <a:cs typeface="Calibri"/>
              </a:rPr>
              <a:t>Spark ↔ Hive integration</a:t>
            </a:r>
            <a:endParaRPr lang="en-US" sz="1450"/>
          </a:p>
        </p:txBody>
      </p:sp>
      <p:sp>
        <p:nvSpPr>
          <p:cNvPr id="988175270" name="Shape 7"/>
          <p:cNvSpPr/>
          <p:nvPr/>
        </p:nvSpPr>
        <p:spPr bwMode="auto">
          <a:xfrm>
            <a:off x="640080" y="3300984"/>
            <a:ext cx="438912" cy="438912"/>
          </a:xfrm>
          <a:prstGeom prst="ellipse">
            <a:avLst/>
          </a:prstGeom>
          <a:solidFill>
            <a:srgbClr val="B0413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2629256" name="Image 2" descr="/home/claude/telepulse/icons/triangleExclaim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38835" y="3399739"/>
            <a:ext cx="241402" cy="241402"/>
          </a:xfrm>
          <a:prstGeom prst="rect">
            <a:avLst/>
          </a:prstGeom>
        </p:spPr>
      </p:pic>
      <p:sp>
        <p:nvSpPr>
          <p:cNvPr id="2013810449" name="Text 8"/>
          <p:cNvSpPr/>
          <p:nvPr/>
        </p:nvSpPr>
        <p:spPr bwMode="auto">
          <a:xfrm>
            <a:off x="1234440" y="3319272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>
                <a:solidFill>
                  <a:srgbClr val="13293D"/>
                </a:solidFill>
                <a:latin typeface="Calibri"/>
                <a:ea typeface="Calibri"/>
                <a:cs typeface="Calibri"/>
              </a:rPr>
              <a:t>Docker networking</a:t>
            </a:r>
            <a:endParaRPr lang="en-US" sz="1450"/>
          </a:p>
        </p:txBody>
      </p:sp>
      <p:sp>
        <p:nvSpPr>
          <p:cNvPr id="47370906" name="Shape 9"/>
          <p:cNvSpPr/>
          <p:nvPr/>
        </p:nvSpPr>
        <p:spPr bwMode="auto">
          <a:xfrm>
            <a:off x="640080" y="3922776"/>
            <a:ext cx="438912" cy="438912"/>
          </a:xfrm>
          <a:prstGeom prst="ellipse">
            <a:avLst/>
          </a:prstGeom>
          <a:solidFill>
            <a:srgbClr val="B0413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64872498" name="Image 3" descr="/home/claude/telepulse/icons/triangleExclaim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38835" y="4021531"/>
            <a:ext cx="241402" cy="241402"/>
          </a:xfrm>
          <a:prstGeom prst="rect">
            <a:avLst/>
          </a:prstGeom>
        </p:spPr>
      </p:pic>
      <p:sp>
        <p:nvSpPr>
          <p:cNvPr id="500808640" name="Text 10"/>
          <p:cNvSpPr/>
          <p:nvPr/>
        </p:nvSpPr>
        <p:spPr bwMode="auto">
          <a:xfrm>
            <a:off x="1234440" y="3941064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>
                <a:solidFill>
                  <a:srgbClr val="13293D"/>
                </a:solidFill>
                <a:latin typeface="Calibri"/>
                <a:ea typeface="Calibri"/>
                <a:cs typeface="Calibri"/>
              </a:rPr>
              <a:t>Hive schema compatibility</a:t>
            </a:r>
            <a:endParaRPr lang="en-US" sz="1450"/>
          </a:p>
        </p:txBody>
      </p:sp>
      <p:sp>
        <p:nvSpPr>
          <p:cNvPr id="1743611419" name="Shape 11"/>
          <p:cNvSpPr/>
          <p:nvPr/>
        </p:nvSpPr>
        <p:spPr bwMode="auto">
          <a:xfrm>
            <a:off x="640080" y="4544568"/>
            <a:ext cx="438912" cy="438912"/>
          </a:xfrm>
          <a:prstGeom prst="ellipse">
            <a:avLst/>
          </a:prstGeom>
          <a:solidFill>
            <a:srgbClr val="B0413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46324723" name="Image 4" descr="/home/claude/telepulse/icons/triangleExclaim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38835" y="4643323"/>
            <a:ext cx="241402" cy="241402"/>
          </a:xfrm>
          <a:prstGeom prst="rect">
            <a:avLst/>
          </a:prstGeom>
        </p:spPr>
      </p:pic>
      <p:sp>
        <p:nvSpPr>
          <p:cNvPr id="1638121829" name="Text 12"/>
          <p:cNvSpPr/>
          <p:nvPr/>
        </p:nvSpPr>
        <p:spPr bwMode="auto">
          <a:xfrm>
            <a:off x="1234440" y="4562856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>
                <a:solidFill>
                  <a:srgbClr val="13293D"/>
                </a:solidFill>
                <a:latin typeface="Calibri"/>
                <a:ea typeface="Calibri"/>
                <a:cs typeface="Calibri"/>
              </a:rPr>
              <a:t>Power BI connectivity</a:t>
            </a:r>
            <a:endParaRPr lang="en-US" sz="1450"/>
          </a:p>
        </p:txBody>
      </p:sp>
      <p:sp>
        <p:nvSpPr>
          <p:cNvPr id="1343156588" name="Shape 13"/>
          <p:cNvSpPr/>
          <p:nvPr/>
        </p:nvSpPr>
        <p:spPr bwMode="auto">
          <a:xfrm>
            <a:off x="6858000" y="1600200"/>
            <a:ext cx="4709160" cy="4480560"/>
          </a:xfrm>
          <a:prstGeom prst="roundRect">
            <a:avLst>
              <a:gd name="adj" fmla="val 2857"/>
            </a:avLst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0097977" name="Shape 14"/>
          <p:cNvSpPr/>
          <p:nvPr/>
        </p:nvSpPr>
        <p:spPr bwMode="auto">
          <a:xfrm>
            <a:off x="7178039" y="1920240"/>
            <a:ext cx="594360" cy="594360"/>
          </a:xfrm>
          <a:prstGeom prst="ellipse">
            <a:avLst/>
          </a:prstGeom>
          <a:solidFill>
            <a:srgbClr val="13C4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43717367" name="Image 5" descr="/home/claude/telepulse/icons/lightbulb_whit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326630" y="2068830"/>
            <a:ext cx="297180" cy="297180"/>
          </a:xfrm>
          <a:prstGeom prst="rect">
            <a:avLst/>
          </a:prstGeom>
        </p:spPr>
      </p:pic>
      <p:sp>
        <p:nvSpPr>
          <p:cNvPr id="208152427" name="Text 15"/>
          <p:cNvSpPr/>
          <p:nvPr/>
        </p:nvSpPr>
        <p:spPr bwMode="auto">
          <a:xfrm>
            <a:off x="7909560" y="192024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1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Solution</a:t>
            </a:r>
            <a:endParaRPr lang="en-US" sz="2100"/>
          </a:p>
        </p:txBody>
      </p:sp>
      <p:sp>
        <p:nvSpPr>
          <p:cNvPr id="189535600" name="Text 16"/>
          <p:cNvSpPr/>
          <p:nvPr/>
        </p:nvSpPr>
        <p:spPr bwMode="auto">
          <a:xfrm>
            <a:off x="7178039" y="2743200"/>
            <a:ext cx="4114800" cy="30175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  <a:defRPr/>
            </a:pPr>
            <a:r>
              <a:rPr lang="en-US" sz="1500">
                <a:solidFill>
                  <a:srgbClr val="EAF3F8"/>
                </a:solidFill>
                <a:latin typeface="Calibri"/>
                <a:ea typeface="Calibri"/>
                <a:cs typeface="Calibri"/>
              </a:rPr>
              <a:t>Exported Hive analytical views as CSV when direct Hive connectivity was unavailable — keeping the dashboard fully functional without depending on a live Hive connection.</a:t>
            </a:r>
            <a:endParaRPr lang="en-US" sz="1500"/>
          </a:p>
        </p:txBody>
      </p:sp>
      <p:sp>
        <p:nvSpPr>
          <p:cNvPr id="718779649" name="Text 17"/>
          <p:cNvSpPr/>
          <p:nvPr/>
        </p:nvSpPr>
        <p:spPr bwMode="auto"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5A7386"/>
                </a:solidFill>
                <a:latin typeface="Calibri"/>
                <a:ea typeface="Calibri"/>
                <a:cs typeface="Calibri"/>
              </a:rPr>
              <a:t>12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3186666" name="Text 0"/>
          <p:cNvSpPr/>
          <p:nvPr/>
        </p:nvSpPr>
        <p:spPr bwMode="auto"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RESULTS</a:t>
            </a:r>
            <a:endParaRPr lang="en-US" sz="1300"/>
          </a:p>
        </p:txBody>
      </p:sp>
      <p:sp>
        <p:nvSpPr>
          <p:cNvPr id="1213778426" name="Text 1"/>
          <p:cNvSpPr/>
          <p:nvPr/>
        </p:nvSpPr>
        <p:spPr bwMode="auto">
          <a:xfrm>
            <a:off x="640080" y="74980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0B2E4F"/>
                </a:solidFill>
                <a:latin typeface="Cambria"/>
                <a:ea typeface="Cambria"/>
                <a:cs typeface="Cambria"/>
              </a:rPr>
              <a:t>Project Deliverables</a:t>
            </a:r>
            <a:endParaRPr lang="en-US" sz="3200"/>
          </a:p>
        </p:txBody>
      </p:sp>
      <p:sp>
        <p:nvSpPr>
          <p:cNvPr id="745933570" name="Text 2"/>
          <p:cNvSpPr/>
          <p:nvPr/>
        </p:nvSpPr>
        <p:spPr bwMode="auto">
          <a:xfrm>
            <a:off x="64008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13293D"/>
                </a:solidFill>
                <a:latin typeface="Calibri"/>
                <a:ea typeface="Calibri"/>
                <a:cs typeface="Calibri"/>
              </a:rPr>
              <a:t>A GitHub repository containing:</a:t>
            </a:r>
            <a:endParaRPr lang="en-US" sz="1500"/>
          </a:p>
        </p:txBody>
      </p:sp>
      <p:sp>
        <p:nvSpPr>
          <p:cNvPr id="1228727464" name="Shape 3"/>
          <p:cNvSpPr/>
          <p:nvPr/>
        </p:nvSpPr>
        <p:spPr bwMode="auto">
          <a:xfrm>
            <a:off x="586588" y="210312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6801095" name="Shape 4"/>
          <p:cNvSpPr/>
          <p:nvPr/>
        </p:nvSpPr>
        <p:spPr bwMode="auto">
          <a:xfrm>
            <a:off x="842620" y="2514600"/>
            <a:ext cx="548640" cy="548640"/>
          </a:xfrm>
          <a:prstGeom prst="ellipse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36986765" name="Image 0" descr="/home/claude/telepulse/icons/checkCircl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66064" y="2638044"/>
            <a:ext cx="301752" cy="301752"/>
          </a:xfrm>
          <a:prstGeom prst="rect">
            <a:avLst/>
          </a:prstGeom>
        </p:spPr>
      </p:pic>
      <p:sp>
        <p:nvSpPr>
          <p:cNvPr id="587131829" name="Text 5"/>
          <p:cNvSpPr/>
          <p:nvPr/>
        </p:nvSpPr>
        <p:spPr bwMode="auto">
          <a:xfrm>
            <a:off x="1546708" y="2103120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0B2E4F"/>
                </a:solidFill>
                <a:latin typeface="Calibri"/>
                <a:ea typeface="Calibri"/>
                <a:cs typeface="Calibri"/>
              </a:rPr>
              <a:t>Distributed Storage</a:t>
            </a:r>
            <a:endParaRPr lang="en-US" sz="1450"/>
          </a:p>
        </p:txBody>
      </p:sp>
      <p:sp>
        <p:nvSpPr>
          <p:cNvPr id="927580162" name="Shape 6"/>
          <p:cNvSpPr/>
          <p:nvPr/>
        </p:nvSpPr>
        <p:spPr bwMode="auto">
          <a:xfrm>
            <a:off x="4335628" y="210312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7239575" name="Shape 7"/>
          <p:cNvSpPr/>
          <p:nvPr/>
        </p:nvSpPr>
        <p:spPr bwMode="auto">
          <a:xfrm>
            <a:off x="4591660" y="2514600"/>
            <a:ext cx="548640" cy="548640"/>
          </a:xfrm>
          <a:prstGeom prst="ellipse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267443" name="Image 1" descr="/home/claude/telepulse/icons/checkCircl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715104" y="2638044"/>
            <a:ext cx="301752" cy="301752"/>
          </a:xfrm>
          <a:prstGeom prst="rect">
            <a:avLst/>
          </a:prstGeom>
        </p:spPr>
      </p:pic>
      <p:sp>
        <p:nvSpPr>
          <p:cNvPr id="1108480091" name="Text 8"/>
          <p:cNvSpPr/>
          <p:nvPr/>
        </p:nvSpPr>
        <p:spPr bwMode="auto">
          <a:xfrm>
            <a:off x="5295748" y="2103120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0B2E4F"/>
                </a:solidFill>
                <a:latin typeface="Calibri"/>
                <a:ea typeface="Calibri"/>
                <a:cs typeface="Calibri"/>
              </a:rPr>
              <a:t>Spark Analytics</a:t>
            </a:r>
            <a:endParaRPr lang="en-US" sz="1450"/>
          </a:p>
        </p:txBody>
      </p:sp>
      <p:sp>
        <p:nvSpPr>
          <p:cNvPr id="1945454610" name="Shape 9"/>
          <p:cNvSpPr/>
          <p:nvPr/>
        </p:nvSpPr>
        <p:spPr bwMode="auto">
          <a:xfrm>
            <a:off x="8084668" y="210312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7687927" name="Shape 10"/>
          <p:cNvSpPr/>
          <p:nvPr/>
        </p:nvSpPr>
        <p:spPr bwMode="auto">
          <a:xfrm>
            <a:off x="8340700" y="2514600"/>
            <a:ext cx="548640" cy="548640"/>
          </a:xfrm>
          <a:prstGeom prst="ellipse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82196219" name="Image 2" descr="/home/claude/telepulse/icons/checkCircl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464144" y="2638044"/>
            <a:ext cx="301752" cy="301752"/>
          </a:xfrm>
          <a:prstGeom prst="rect">
            <a:avLst/>
          </a:prstGeom>
        </p:spPr>
      </p:pic>
      <p:sp>
        <p:nvSpPr>
          <p:cNvPr id="505539945" name="Text 11"/>
          <p:cNvSpPr/>
          <p:nvPr/>
        </p:nvSpPr>
        <p:spPr bwMode="auto">
          <a:xfrm>
            <a:off x="9044788" y="2103120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0B2E4F"/>
                </a:solidFill>
                <a:latin typeface="Calibri"/>
                <a:ea typeface="Calibri"/>
                <a:cs typeface="Calibri"/>
              </a:rPr>
              <a:t>Hive Database</a:t>
            </a:r>
            <a:endParaRPr lang="en-US" sz="1450"/>
          </a:p>
        </p:txBody>
      </p:sp>
      <p:sp>
        <p:nvSpPr>
          <p:cNvPr id="1204298233" name="Shape 12"/>
          <p:cNvSpPr/>
          <p:nvPr/>
        </p:nvSpPr>
        <p:spPr bwMode="auto">
          <a:xfrm>
            <a:off x="586588" y="370332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3664771" name="Shape 13"/>
          <p:cNvSpPr/>
          <p:nvPr/>
        </p:nvSpPr>
        <p:spPr bwMode="auto">
          <a:xfrm>
            <a:off x="842620" y="4114800"/>
            <a:ext cx="548640" cy="548640"/>
          </a:xfrm>
          <a:prstGeom prst="ellipse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33913515" name="Image 3" descr="/home/claude/telepulse/icons/checkCircl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66064" y="4238244"/>
            <a:ext cx="301752" cy="301752"/>
          </a:xfrm>
          <a:prstGeom prst="rect">
            <a:avLst/>
          </a:prstGeom>
        </p:spPr>
      </p:pic>
      <p:sp>
        <p:nvSpPr>
          <p:cNvPr id="324000990" name="Text 14"/>
          <p:cNvSpPr/>
          <p:nvPr/>
        </p:nvSpPr>
        <p:spPr bwMode="auto">
          <a:xfrm>
            <a:off x="1546708" y="3703320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0B2E4F"/>
                </a:solidFill>
                <a:latin typeface="Calibri"/>
                <a:ea typeface="Calibri"/>
                <a:cs typeface="Calibri"/>
              </a:rPr>
              <a:t>Analytical Views</a:t>
            </a:r>
            <a:endParaRPr lang="en-US" sz="1450"/>
          </a:p>
        </p:txBody>
      </p:sp>
      <p:sp>
        <p:nvSpPr>
          <p:cNvPr id="1169475296" name="Shape 15"/>
          <p:cNvSpPr/>
          <p:nvPr/>
        </p:nvSpPr>
        <p:spPr bwMode="auto">
          <a:xfrm>
            <a:off x="4335628" y="370332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2450459" name="Shape 16"/>
          <p:cNvSpPr/>
          <p:nvPr/>
        </p:nvSpPr>
        <p:spPr bwMode="auto">
          <a:xfrm>
            <a:off x="4591660" y="4114800"/>
            <a:ext cx="548640" cy="548640"/>
          </a:xfrm>
          <a:prstGeom prst="ellipse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5690333" name="Image 4" descr="/home/claude/telepulse/icons/checkCircl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715104" y="4238244"/>
            <a:ext cx="301752" cy="301752"/>
          </a:xfrm>
          <a:prstGeom prst="rect">
            <a:avLst/>
          </a:prstGeom>
        </p:spPr>
      </p:pic>
      <p:sp>
        <p:nvSpPr>
          <p:cNvPr id="1669880368" name="Text 17"/>
          <p:cNvSpPr/>
          <p:nvPr/>
        </p:nvSpPr>
        <p:spPr bwMode="auto">
          <a:xfrm>
            <a:off x="5295748" y="3703320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0B2E4F"/>
                </a:solidFill>
                <a:latin typeface="Calibri"/>
                <a:ea typeface="Calibri"/>
                <a:cs typeface="Calibri"/>
              </a:rPr>
              <a:t>Interactive Dashboard</a:t>
            </a:r>
            <a:endParaRPr lang="en-US" sz="1450"/>
          </a:p>
        </p:txBody>
      </p:sp>
      <p:sp>
        <p:nvSpPr>
          <p:cNvPr id="1727204592" name="Shape 18"/>
          <p:cNvSpPr/>
          <p:nvPr/>
        </p:nvSpPr>
        <p:spPr bwMode="auto">
          <a:xfrm>
            <a:off x="8084668" y="370332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77942315" name="Shape 19"/>
          <p:cNvSpPr/>
          <p:nvPr/>
        </p:nvSpPr>
        <p:spPr bwMode="auto">
          <a:xfrm>
            <a:off x="8340700" y="4114800"/>
            <a:ext cx="548640" cy="548640"/>
          </a:xfrm>
          <a:prstGeom prst="ellipse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86234889" name="Image 5" descr="/home/claude/telepulse/icons/checkCircl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464144" y="4238244"/>
            <a:ext cx="301752" cy="301752"/>
          </a:xfrm>
          <a:prstGeom prst="rect">
            <a:avLst/>
          </a:prstGeom>
        </p:spPr>
      </p:pic>
      <p:sp>
        <p:nvSpPr>
          <p:cNvPr id="1208808308" name="Text 20"/>
          <p:cNvSpPr/>
          <p:nvPr/>
        </p:nvSpPr>
        <p:spPr bwMode="auto">
          <a:xfrm>
            <a:off x="9044788" y="3703320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0B2E4F"/>
                </a:solidFill>
                <a:latin typeface="Calibri"/>
                <a:ea typeface="Calibri"/>
                <a:cs typeface="Calibri"/>
              </a:rPr>
              <a:t>Dockerized Deployment</a:t>
            </a:r>
            <a:endParaRPr lang="en-US" sz="1450"/>
          </a:p>
        </p:txBody>
      </p:sp>
      <p:sp>
        <p:nvSpPr>
          <p:cNvPr id="467832193" name="Shape 21"/>
          <p:cNvSpPr/>
          <p:nvPr/>
        </p:nvSpPr>
        <p:spPr bwMode="auto">
          <a:xfrm>
            <a:off x="586588" y="5440680"/>
            <a:ext cx="11018520" cy="594360"/>
          </a:xfrm>
          <a:prstGeom prst="roundRect">
            <a:avLst>
              <a:gd name="adj" fmla="val 15385"/>
            </a:avLst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5511115" name="Shape 22"/>
          <p:cNvSpPr/>
          <p:nvPr/>
        </p:nvSpPr>
        <p:spPr bwMode="auto">
          <a:xfrm>
            <a:off x="696316" y="55092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01605288" name="Image 6" descr="/home/claude/telepulse/icons/github_whit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99186" y="5612130"/>
            <a:ext cx="251460" cy="251460"/>
          </a:xfrm>
          <a:prstGeom prst="rect">
            <a:avLst/>
          </a:prstGeom>
        </p:spPr>
      </p:pic>
      <p:sp>
        <p:nvSpPr>
          <p:cNvPr id="811457342" name="Text 23">
            <a:hlinkClick r:id="rId5"/>
          </p:cNvPr>
          <p:cNvSpPr/>
          <p:nvPr/>
        </p:nvSpPr>
        <p:spPr bwMode="auto">
          <a:xfrm>
            <a:off x="1272388" y="5440680"/>
            <a:ext cx="10104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u="sng">
                <a:solidFill>
                  <a:srgbClr val="FFFFFF"/>
                </a:solidFill>
                <a:latin typeface="Courier New"/>
                <a:ea typeface="Courier New"/>
                <a:cs typeface="Courier New"/>
                <a:hlinkClick r:id="rId5"/>
              </a:rPr>
              <a:t>github.com/Doha-Ahmed-E/TelePulse</a:t>
            </a:r>
            <a:endParaRPr lang="en-US" sz="1400"/>
          </a:p>
        </p:txBody>
      </p:sp>
      <p:sp>
        <p:nvSpPr>
          <p:cNvPr id="872067284" name="Text 24"/>
          <p:cNvSpPr/>
          <p:nvPr/>
        </p:nvSpPr>
        <p:spPr bwMode="auto"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5A7386"/>
                </a:solidFill>
                <a:latin typeface="Calibri"/>
                <a:ea typeface="Calibri"/>
                <a:cs typeface="Calibri"/>
              </a:rPr>
              <a:t>13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477826" name="Text 0"/>
          <p:cNvSpPr/>
          <p:nvPr/>
        </p:nvSpPr>
        <p:spPr bwMode="auto"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FUTURE WORK</a:t>
            </a:r>
            <a:endParaRPr lang="en-US" sz="1300"/>
          </a:p>
        </p:txBody>
      </p:sp>
      <p:sp>
        <p:nvSpPr>
          <p:cNvPr id="1088471099" name="Text 1"/>
          <p:cNvSpPr/>
          <p:nvPr/>
        </p:nvSpPr>
        <p:spPr bwMode="auto">
          <a:xfrm>
            <a:off x="640080" y="74980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0B2E4F"/>
                </a:solidFill>
                <a:latin typeface="Cambria"/>
                <a:ea typeface="Cambria"/>
                <a:cs typeface="Cambria"/>
              </a:rPr>
              <a:t>Next Version</a:t>
            </a:r>
            <a:endParaRPr lang="en-US" sz="3200"/>
          </a:p>
        </p:txBody>
      </p:sp>
      <p:sp>
        <p:nvSpPr>
          <p:cNvPr id="1055464233" name="Shape 2"/>
          <p:cNvSpPr/>
          <p:nvPr/>
        </p:nvSpPr>
        <p:spPr bwMode="auto">
          <a:xfrm>
            <a:off x="1005840" y="3383280"/>
            <a:ext cx="10180015" cy="0"/>
          </a:xfrm>
          <a:prstGeom prst="line">
            <a:avLst/>
          </a:prstGeom>
          <a:noFill/>
          <a:ln w="25400">
            <a:solidFill>
              <a:srgbClr val="D6E2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7590483" name="Shape 3"/>
          <p:cNvSpPr/>
          <p:nvPr/>
        </p:nvSpPr>
        <p:spPr bwMode="auto">
          <a:xfrm>
            <a:off x="685800" y="3063240"/>
            <a:ext cx="640080" cy="640080"/>
          </a:xfrm>
          <a:prstGeom prst="ellipse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29572120" name="Image 0" descr="/home/claude/telepulse/icons/clock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45820" y="3223260"/>
            <a:ext cx="320040" cy="320040"/>
          </a:xfrm>
          <a:prstGeom prst="rect">
            <a:avLst/>
          </a:prstGeom>
        </p:spPr>
      </p:pic>
      <p:sp>
        <p:nvSpPr>
          <p:cNvPr id="595260994" name="Text 4"/>
          <p:cNvSpPr/>
          <p:nvPr/>
        </p:nvSpPr>
        <p:spPr bwMode="auto">
          <a:xfrm>
            <a:off x="45720" y="38404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4999"/>
              </a:lnSpc>
              <a:buNone/>
              <a:defRPr/>
            </a:pPr>
            <a:r>
              <a:rPr lang="en-US" sz="1300" b="1">
                <a:solidFill>
                  <a:srgbClr val="13293D"/>
                </a:solidFill>
                <a:latin typeface="Calibri"/>
                <a:ea typeface="Calibri"/>
                <a:cs typeface="Calibri"/>
              </a:rPr>
              <a:t>Incremental batch ingestion</a:t>
            </a:r>
            <a:endParaRPr lang="en-US" sz="1300"/>
          </a:p>
        </p:txBody>
      </p:sp>
      <p:sp>
        <p:nvSpPr>
          <p:cNvPr id="1188484250" name="Shape 5"/>
          <p:cNvSpPr/>
          <p:nvPr/>
        </p:nvSpPr>
        <p:spPr bwMode="auto">
          <a:xfrm>
            <a:off x="950976" y="3328416"/>
            <a:ext cx="109728" cy="109728"/>
          </a:xfrm>
          <a:prstGeom prst="ellipse">
            <a:avLst/>
          </a:prstGeom>
          <a:solidFill>
            <a:srgbClr val="13C4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72059017" name="Shape 6"/>
          <p:cNvSpPr/>
          <p:nvPr/>
        </p:nvSpPr>
        <p:spPr bwMode="auto">
          <a:xfrm>
            <a:off x="3230804" y="30632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91120872" name="Image 1" descr="/home/claude/telepulse/icons/uploa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390824" y="3223260"/>
            <a:ext cx="320040" cy="320040"/>
          </a:xfrm>
          <a:prstGeom prst="rect">
            <a:avLst/>
          </a:prstGeom>
        </p:spPr>
      </p:pic>
      <p:sp>
        <p:nvSpPr>
          <p:cNvPr id="2083645943" name="Text 7"/>
          <p:cNvSpPr/>
          <p:nvPr/>
        </p:nvSpPr>
        <p:spPr bwMode="auto">
          <a:xfrm>
            <a:off x="2590723" y="38404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4999"/>
              </a:lnSpc>
              <a:buNone/>
              <a:defRPr/>
            </a:pPr>
            <a:r>
              <a:rPr lang="en-US" sz="1300" b="1">
                <a:solidFill>
                  <a:srgbClr val="13293D"/>
                </a:solidFill>
                <a:latin typeface="Calibri"/>
                <a:ea typeface="Calibri"/>
                <a:cs typeface="Calibri"/>
              </a:rPr>
              <a:t>Upload API</a:t>
            </a:r>
            <a:endParaRPr lang="en-US" sz="1300"/>
          </a:p>
        </p:txBody>
      </p:sp>
      <p:sp>
        <p:nvSpPr>
          <p:cNvPr id="1465527359" name="Shape 8"/>
          <p:cNvSpPr/>
          <p:nvPr/>
        </p:nvSpPr>
        <p:spPr bwMode="auto">
          <a:xfrm>
            <a:off x="3495980" y="3328416"/>
            <a:ext cx="109728" cy="109728"/>
          </a:xfrm>
          <a:prstGeom prst="ellipse">
            <a:avLst/>
          </a:prstGeom>
          <a:solidFill>
            <a:srgbClr val="13C4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7339333" name="Shape 9"/>
          <p:cNvSpPr/>
          <p:nvPr/>
        </p:nvSpPr>
        <p:spPr bwMode="auto">
          <a:xfrm>
            <a:off x="5775808" y="3063240"/>
            <a:ext cx="640080" cy="640080"/>
          </a:xfrm>
          <a:prstGeom prst="ellipse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34970523" name="Image 2" descr="/home/claude/telepulse/icons/checkCircle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935828" y="3223260"/>
            <a:ext cx="320040" cy="320040"/>
          </a:xfrm>
          <a:prstGeom prst="rect">
            <a:avLst/>
          </a:prstGeom>
        </p:spPr>
      </p:pic>
      <p:sp>
        <p:nvSpPr>
          <p:cNvPr id="2063714222" name="Text 10"/>
          <p:cNvSpPr/>
          <p:nvPr/>
        </p:nvSpPr>
        <p:spPr bwMode="auto">
          <a:xfrm>
            <a:off x="5135728" y="38404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4999"/>
              </a:lnSpc>
              <a:buNone/>
              <a:defRPr/>
            </a:pPr>
            <a:r>
              <a:rPr lang="en-US" sz="1300" b="1">
                <a:solidFill>
                  <a:srgbClr val="13293D"/>
                </a:solidFill>
                <a:latin typeface="Calibri"/>
                <a:ea typeface="Calibri"/>
                <a:cs typeface="Calibri"/>
              </a:rPr>
              <a:t>Automated validation</a:t>
            </a:r>
            <a:endParaRPr lang="en-US" sz="1300"/>
          </a:p>
        </p:txBody>
      </p:sp>
      <p:sp>
        <p:nvSpPr>
          <p:cNvPr id="1040754894" name="Shape 11"/>
          <p:cNvSpPr/>
          <p:nvPr/>
        </p:nvSpPr>
        <p:spPr bwMode="auto">
          <a:xfrm>
            <a:off x="6040984" y="3328416"/>
            <a:ext cx="109728" cy="109728"/>
          </a:xfrm>
          <a:prstGeom prst="ellipse">
            <a:avLst/>
          </a:prstGeom>
          <a:solidFill>
            <a:srgbClr val="13C4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97466703" name="Shape 12"/>
          <p:cNvSpPr/>
          <p:nvPr/>
        </p:nvSpPr>
        <p:spPr bwMode="auto">
          <a:xfrm>
            <a:off x="8320811" y="30632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86072820" name="Image 3" descr="/home/claude/telepulse/icons/gears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8480831" y="3223260"/>
            <a:ext cx="320040" cy="320040"/>
          </a:xfrm>
          <a:prstGeom prst="rect">
            <a:avLst/>
          </a:prstGeom>
        </p:spPr>
      </p:pic>
      <p:sp>
        <p:nvSpPr>
          <p:cNvPr id="1588082011" name="Text 13"/>
          <p:cNvSpPr/>
          <p:nvPr/>
        </p:nvSpPr>
        <p:spPr bwMode="auto">
          <a:xfrm>
            <a:off x="7680731" y="38404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4999"/>
              </a:lnSpc>
              <a:buNone/>
              <a:defRPr/>
            </a:pPr>
            <a:r>
              <a:rPr lang="en-US" sz="1300" b="1">
                <a:solidFill>
                  <a:srgbClr val="13293D"/>
                </a:solidFill>
                <a:latin typeface="Calibri"/>
                <a:ea typeface="Calibri"/>
                <a:cs typeface="Calibri"/>
              </a:rPr>
              <a:t>Airflow orchestration</a:t>
            </a:r>
            <a:endParaRPr lang="en-US" sz="1300"/>
          </a:p>
        </p:txBody>
      </p:sp>
      <p:sp>
        <p:nvSpPr>
          <p:cNvPr id="1801726749" name="Shape 14"/>
          <p:cNvSpPr/>
          <p:nvPr/>
        </p:nvSpPr>
        <p:spPr bwMode="auto">
          <a:xfrm>
            <a:off x="8585987" y="3328416"/>
            <a:ext cx="109728" cy="109728"/>
          </a:xfrm>
          <a:prstGeom prst="ellipse">
            <a:avLst/>
          </a:prstGeom>
          <a:solidFill>
            <a:srgbClr val="13C4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5459437" name="Shape 15"/>
          <p:cNvSpPr/>
          <p:nvPr/>
        </p:nvSpPr>
        <p:spPr bwMode="auto">
          <a:xfrm>
            <a:off x="10865815" y="3063240"/>
            <a:ext cx="640080" cy="640080"/>
          </a:xfrm>
          <a:prstGeom prst="ellipse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9856694" name="Image 4" descr="/home/claude/telepulse/icons/cloud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11025835" y="3223260"/>
            <a:ext cx="320040" cy="320040"/>
          </a:xfrm>
          <a:prstGeom prst="rect">
            <a:avLst/>
          </a:prstGeom>
        </p:spPr>
      </p:pic>
      <p:sp>
        <p:nvSpPr>
          <p:cNvPr id="1225022807" name="Text 16"/>
          <p:cNvSpPr/>
          <p:nvPr/>
        </p:nvSpPr>
        <p:spPr bwMode="auto">
          <a:xfrm>
            <a:off x="10225735" y="38404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4999"/>
              </a:lnSpc>
              <a:buNone/>
              <a:defRPr/>
            </a:pPr>
            <a:r>
              <a:rPr lang="en-US" sz="1300" b="1">
                <a:solidFill>
                  <a:srgbClr val="13293D"/>
                </a:solidFill>
                <a:latin typeface="Calibri"/>
                <a:ea typeface="Calibri"/>
                <a:cs typeface="Calibri"/>
              </a:rPr>
              <a:t>Cloud deployment</a:t>
            </a:r>
            <a:endParaRPr lang="en-US" sz="1300"/>
          </a:p>
        </p:txBody>
      </p:sp>
      <p:sp>
        <p:nvSpPr>
          <p:cNvPr id="185931754" name="Shape 17"/>
          <p:cNvSpPr/>
          <p:nvPr/>
        </p:nvSpPr>
        <p:spPr bwMode="auto">
          <a:xfrm>
            <a:off x="11130991" y="3328416"/>
            <a:ext cx="109728" cy="109728"/>
          </a:xfrm>
          <a:prstGeom prst="ellipse">
            <a:avLst/>
          </a:prstGeom>
          <a:solidFill>
            <a:srgbClr val="13C4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3684745" name="Shape 18"/>
          <p:cNvSpPr/>
          <p:nvPr/>
        </p:nvSpPr>
        <p:spPr bwMode="auto">
          <a:xfrm>
            <a:off x="1371600" y="5029200"/>
            <a:ext cx="9418320" cy="1051560"/>
          </a:xfrm>
          <a:prstGeom prst="roundRect">
            <a:avLst>
              <a:gd name="adj" fmla="val 8696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6735466" name="Text 19"/>
          <p:cNvSpPr/>
          <p:nvPr/>
        </p:nvSpPr>
        <p:spPr bwMode="auto">
          <a:xfrm>
            <a:off x="1691640" y="5029200"/>
            <a:ext cx="8778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500" i="1">
                <a:solidFill>
                  <a:srgbClr val="0B2E4F"/>
                </a:solidFill>
                <a:latin typeface="Calibri"/>
                <a:ea typeface="Calibri"/>
                <a:cs typeface="Calibri"/>
              </a:rPr>
              <a:t>The architecture is designed to evolve without changing the existing analytical pipeline.</a:t>
            </a:r>
            <a:endParaRPr lang="en-US" sz="1500"/>
          </a:p>
        </p:txBody>
      </p:sp>
      <p:sp>
        <p:nvSpPr>
          <p:cNvPr id="1461402202" name="Text 20"/>
          <p:cNvSpPr/>
          <p:nvPr/>
        </p:nvSpPr>
        <p:spPr bwMode="auto"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5A7386"/>
                </a:solidFill>
                <a:latin typeface="Calibri"/>
                <a:ea typeface="Calibri"/>
                <a:cs typeface="Calibri"/>
              </a:rPr>
              <a:t>14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5">
    <p:bg>
      <p:bgPr>
        <a:solidFill>
          <a:srgbClr val="0B2E4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0446839" name="Shape 0"/>
          <p:cNvSpPr/>
          <p:nvPr/>
        </p:nvSpPr>
        <p:spPr bwMode="auto">
          <a:xfrm>
            <a:off x="5455768" y="2377440"/>
            <a:ext cx="1280160" cy="1280160"/>
          </a:xfrm>
          <a:prstGeom prst="ellipse">
            <a:avLst/>
          </a:prstGeom>
          <a:ln w="15875">
            <a:solidFill>
              <a:srgbClr val="13C4C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1372877" name="Shape 1"/>
          <p:cNvSpPr/>
          <p:nvPr/>
        </p:nvSpPr>
        <p:spPr bwMode="auto">
          <a:xfrm>
            <a:off x="4907128" y="1828800"/>
            <a:ext cx="2377440" cy="2377440"/>
          </a:xfrm>
          <a:prstGeom prst="ellipse">
            <a:avLst/>
          </a:prstGeom>
          <a:ln w="15875">
            <a:solidFill>
              <a:srgbClr val="13C4CB">
                <a:alpha val="53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2995426" name="Shape 2"/>
          <p:cNvSpPr/>
          <p:nvPr/>
        </p:nvSpPr>
        <p:spPr bwMode="auto">
          <a:xfrm>
            <a:off x="4358488" y="1280160"/>
            <a:ext cx="3474720" cy="3474720"/>
          </a:xfrm>
          <a:prstGeom prst="ellipse">
            <a:avLst/>
          </a:prstGeom>
          <a:ln w="15875">
            <a:solidFill>
              <a:srgbClr val="13C4CB">
                <a:alpha val="41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69583087" name="Shape 3"/>
          <p:cNvSpPr/>
          <p:nvPr/>
        </p:nvSpPr>
        <p:spPr bwMode="auto">
          <a:xfrm>
            <a:off x="3809848" y="731520"/>
            <a:ext cx="4572000" cy="4572000"/>
          </a:xfrm>
          <a:prstGeom prst="ellipse">
            <a:avLst/>
          </a:prstGeom>
          <a:ln w="15875">
            <a:solidFill>
              <a:srgbClr val="13C4CB">
                <a:alpha val="29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6566373" name="Shape 4"/>
          <p:cNvSpPr/>
          <p:nvPr/>
        </p:nvSpPr>
        <p:spPr bwMode="auto">
          <a:xfrm>
            <a:off x="3261208" y="182880"/>
            <a:ext cx="5669280" cy="5669280"/>
          </a:xfrm>
          <a:prstGeom prst="ellipse">
            <a:avLst/>
          </a:prstGeom>
          <a:ln w="15875">
            <a:solidFill>
              <a:srgbClr val="13C4CB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9006889" name="Shape 5"/>
          <p:cNvSpPr/>
          <p:nvPr/>
        </p:nvSpPr>
        <p:spPr bwMode="auto">
          <a:xfrm>
            <a:off x="5638648" y="25603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95202063" name="Image 0" descr="/home/claude/telepulse/icons/handWave_whit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67248" y="2788920"/>
            <a:ext cx="457200" cy="457200"/>
          </a:xfrm>
          <a:prstGeom prst="rect">
            <a:avLst/>
          </a:prstGeom>
        </p:spPr>
      </p:pic>
      <p:sp>
        <p:nvSpPr>
          <p:cNvPr id="1653608400" name="Text 6"/>
          <p:cNvSpPr/>
          <p:nvPr/>
        </p:nvSpPr>
        <p:spPr bwMode="auto">
          <a:xfrm>
            <a:off x="0" y="370332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4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Thank You</a:t>
            </a:r>
            <a:endParaRPr lang="en-US" sz="4400"/>
          </a:p>
        </p:txBody>
      </p:sp>
      <p:sp>
        <p:nvSpPr>
          <p:cNvPr id="1285767406" name="Text 7"/>
          <p:cNvSpPr/>
          <p:nvPr/>
        </p:nvSpPr>
        <p:spPr bwMode="auto">
          <a:xfrm>
            <a:off x="0" y="4434840"/>
            <a:ext cx="121916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000">
                <a:solidFill>
                  <a:srgbClr val="13C4CB"/>
                </a:solidFill>
                <a:latin typeface="Calibri"/>
                <a:ea typeface="Calibri"/>
                <a:cs typeface="Calibri"/>
              </a:rPr>
              <a:t>Questions?</a:t>
            </a:r>
            <a:endParaRPr lang="en-US" sz="2000"/>
          </a:p>
        </p:txBody>
      </p:sp>
      <p:sp>
        <p:nvSpPr>
          <p:cNvPr id="880202020" name="Text 8"/>
          <p:cNvSpPr/>
          <p:nvPr/>
        </p:nvSpPr>
        <p:spPr bwMode="auto">
          <a:xfrm>
            <a:off x="0" y="49834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>
                <a:solidFill>
                  <a:srgbClr val="EAF3F8"/>
                </a:solidFill>
                <a:latin typeface="Calibri"/>
                <a:ea typeface="Calibri"/>
                <a:cs typeface="Calibri"/>
              </a:rPr>
              <a:t>Thank you for your time.</a:t>
            </a:r>
            <a:endParaRPr lang="en-US" sz="1400"/>
          </a:p>
        </p:txBody>
      </p:sp>
      <p:sp>
        <p:nvSpPr>
          <p:cNvPr id="1156968669" name="Text 9"/>
          <p:cNvSpPr/>
          <p:nvPr/>
        </p:nvSpPr>
        <p:spPr bwMode="auto"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6FA8C4"/>
                </a:solidFill>
                <a:latin typeface="Calibri"/>
                <a:ea typeface="Calibri"/>
                <a:cs typeface="Calibri"/>
              </a:rPr>
              <a:t>15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555</Words>
  <Application>Microsoft Office PowerPoint</Application>
  <PresentationFormat>Widescreen</PresentationFormat>
  <Paragraphs>187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Malak Amir</cp:lastModifiedBy>
  <cp:revision>3</cp:revision>
  <dcterms:created xsi:type="dcterms:W3CDTF">2026-07-22T20:04:12Z</dcterms:created>
  <dcterms:modified xsi:type="dcterms:W3CDTF">2026-07-23T08:31:01Z</dcterms:modified>
</cp:coreProperties>
</file>